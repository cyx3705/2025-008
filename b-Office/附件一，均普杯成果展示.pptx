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95" r:id="rId3"/>
    <p:sldId id="258" r:id="rId4"/>
    <p:sldId id="273" r:id="rId5"/>
    <p:sldId id="274" r:id="rId6"/>
    <p:sldId id="278" r:id="rId7"/>
    <p:sldId id="279" r:id="rId8"/>
    <p:sldId id="280" r:id="rId9"/>
    <p:sldId id="281" r:id="rId10"/>
    <p:sldId id="282" r:id="rId11"/>
    <p:sldId id="299" r:id="rId12"/>
    <p:sldId id="298" r:id="rId13"/>
    <p:sldId id="283" r:id="rId14"/>
    <p:sldId id="297" r:id="rId15"/>
    <p:sldId id="285" r:id="rId16"/>
    <p:sldId id="270" r:id="rId17"/>
    <p:sldId id="275" r:id="rId18"/>
    <p:sldId id="272" r:id="rId19"/>
    <p:sldId id="276" r:id="rId20"/>
    <p:sldId id="260" r:id="rId21"/>
    <p:sldId id="292" r:id="rId22"/>
    <p:sldId id="293" r:id="rId23"/>
    <p:sldId id="294" r:id="rId24"/>
    <p:sldId id="286" r:id="rId25"/>
    <p:sldId id="287" r:id="rId26"/>
    <p:sldId id="288" r:id="rId27"/>
    <p:sldId id="289" r:id="rId28"/>
    <p:sldId id="290" r:id="rId29"/>
    <p:sldId id="291" r:id="rId30"/>
    <p:sldId id="296" r:id="rId31"/>
    <p:sldId id="30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788705E-55F0-4D70-AF82-71FDE53BB21F}">
          <p14:sldIdLst>
            <p14:sldId id="256"/>
            <p14:sldId id="295"/>
            <p14:sldId id="258"/>
            <p14:sldId id="273"/>
            <p14:sldId id="274"/>
            <p14:sldId id="278"/>
            <p14:sldId id="279"/>
            <p14:sldId id="280"/>
            <p14:sldId id="281"/>
            <p14:sldId id="282"/>
            <p14:sldId id="299"/>
            <p14:sldId id="298"/>
            <p14:sldId id="283"/>
            <p14:sldId id="297"/>
            <p14:sldId id="285"/>
            <p14:sldId id="270"/>
            <p14:sldId id="275"/>
            <p14:sldId id="272"/>
            <p14:sldId id="276"/>
            <p14:sldId id="260"/>
            <p14:sldId id="292"/>
            <p14:sldId id="293"/>
            <p14:sldId id="294"/>
            <p14:sldId id="286"/>
            <p14:sldId id="287"/>
            <p14:sldId id="288"/>
            <p14:sldId id="289"/>
            <p14:sldId id="290"/>
            <p14:sldId id="291"/>
            <p14:sldId id="296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9C99"/>
    <a:srgbClr val="0B5757"/>
    <a:srgbClr val="38393B"/>
    <a:srgbClr val="DFE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9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9D5D8-C0B0-468E-954D-30830BDDD00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BAC08-3CC2-4EE2-8C20-C046B07D4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5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986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F1E6-6E12-9A3A-BF2F-3E4DBB9A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3915D0-A5E5-6DE6-03D3-70CB2F17E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597E5-0173-1E16-2555-182D52824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F772BF-C994-BCC3-FC84-1F3DF7E4A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68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9AB1-A333-5DBF-D6FE-A2A7DF6E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89B3B7-2C6F-3747-4AE9-A31ECE0DB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4385AF-AA1C-6EE0-154C-C05E48999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D1EC3F-94AB-503F-63FD-AA85648E2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54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6C19-0BAB-7404-2835-EDFCAA31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AAA43C-B7A3-3354-62A4-2E88F523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94E610-80F1-315D-2142-FF0C6E525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5BFC0F-8778-3506-858E-0056438D0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96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6B3F-C076-B0D0-4536-0A8D5397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7CCEBC-F0E7-34C8-F786-9369BA9FA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D36426-A5C4-9DC4-73BD-4F4BB09B4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B88918-E780-2026-8989-6D79904C6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90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74FB-2BB6-414B-036B-D5B04A63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E1F888-5307-44E5-6737-194AD156A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09C89D-4687-3A49-C6C3-DDE4ADCC5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F216E4-1DCA-BA29-A7D7-FFFAAD13F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51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3194A-3D30-1AA9-FFBE-1A98611B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7B20C6-CF99-C3A1-B873-B8D4EE185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3108F5-2893-1C95-E8B4-FC41F4580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1A9558-AE86-E0D0-7A46-E31B1CC5D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569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13DC-8A7D-183E-1D19-63BEE0208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F67047-7EEF-0B27-D504-41663321A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D3858A-13A3-E941-A7B4-2E2453A3B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DBBE13-EB4A-04CE-EAE2-EA9B57384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89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E7C0-782C-DEEC-C6F1-6C4B1E8A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3BC16-F231-0353-B277-65AE81F49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231304-20C4-8E80-5F53-AB6FB4B32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ABD961-52C1-D7E4-4848-CD8BAEE4D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617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20AE-1F92-6E1A-09FE-5E29F0E4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DCF0A4-3A13-D03B-5C15-4DA93108E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708549-D858-7CC1-8071-516451AA6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7839F8-1CE5-A98A-9ECC-7BCD11431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513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67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0C88-5C46-5E64-54BD-CA3C264D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2D96BA-D9D2-6BD6-3CFC-B2D52108A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F645C3-09FC-5590-9BAD-10B8CB510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A2B2E-9035-D0E7-C747-1546FD210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629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C6CE-49AC-D6E5-FB78-DD94EBF7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3F513-1914-192C-C869-5BAA8AC77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4C6662-1271-6CF5-FC75-F1B5F87A3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05BA40-8399-2416-3417-7A03434FD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54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0E0A-F0DE-6314-2894-72BD8CAE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F55AF-7247-4E03-C6F9-FAA6C456F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68B818-1784-2B4A-70C7-C7C96D94F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5637FE-7F55-3BEC-FCA1-2953072D0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413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ACC94-E6B8-4FE5-EDAD-66DFD1BF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A49156-7FCC-27E3-9F56-2B236CACD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E0D6BF-683E-0DC8-8519-D943F0CBB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D62AC7-536F-FD81-4D8E-E9CF9AB31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98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415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AC08-3CC2-4EE2-8C20-C046B07D4EC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4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56DEA-5F2F-8230-714B-1C91A1065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B2C521-E7BB-7A70-219D-0969FB290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36118-6F29-E66A-8B3C-AF01927D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21ED6-E40B-FF9E-272E-E9C2100A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4528B-D5CE-128C-7CCA-A1BB8191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8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75E54-78F0-9465-E20C-4E65F6FA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74B4D-EAB4-43D3-C2E6-94C7ED5BC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BFD4F-265F-1868-423B-89166049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F272B-3D3D-DE4E-2F3F-79FC9540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66A34C-3E01-04EF-1D36-55BF39D0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188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798E7-02A2-3BF0-4A1B-6766EB69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E24C8B-B753-07A2-06D7-2B236CC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309D2-08BE-7326-E5DB-4288102F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D8FF45-8A2D-3809-0F45-EA55E741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A9D76-A916-539E-1728-E31BBDC8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51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B35BF-6C29-0AFC-8587-597EEB02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D12D8B-0E31-D925-5D72-DE125728D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1D8214-4897-166B-299E-F7A238353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8E6E73-0A4C-1783-5F3F-3CCE2EB9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49E5CA-7827-C134-FD17-A8F7B8A3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24758E-5CE3-915B-69AB-46D0D287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75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C7173-04EF-FCE8-9459-F3155C8E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76791-18C1-230E-C686-495999CB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73B6F6-32A6-64C7-813D-00963AD9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4A0C2D-0524-3965-0074-91B44FE3B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D48075-1F88-F3DC-0E73-D448BC113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579890-AB44-7387-9431-8887B215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A22E69-6968-0A29-117A-2A6C0254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6778C9-FFAC-3C22-3E09-5EC129695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06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74F4D-0ECA-174A-6410-5BAA7552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53797B-3333-E752-9806-11B61A59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D8EC2B-EAE9-BBE7-4F59-F7CCCB20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FC3B04-1FFF-089F-EC2F-555EFAB0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467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BE722F-5D6A-9120-C998-F76853A4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04AD8B-1153-F633-08EA-3517D828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F62023-D14D-DB5F-9851-213BBB7F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72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334F9-93C8-9E3D-3C2F-DA73EAB7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03AEB-C554-69C5-C2C1-17C83DF2F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540B1B-FB6E-2AE1-2DDE-65C651BE9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F0DD6F-583F-B7AA-024D-9399DD18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36E5CF-C1FE-A870-7BEB-6B1EA4F3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3C698-678D-550B-F94D-BF8AFAA8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83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4BFFB-C2C0-D46D-E8A1-5E7FBB5D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3D554F-9DDA-F5EE-487F-F9D0ECF73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4E65AD-C016-E4BA-3F7F-DC1608F1D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CD5FF8-D6AB-EA51-CEDE-10C9D9E0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40FF15-A579-E2AF-DC97-38D7CEF0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A5CD8-EE4C-F91C-F19D-A33F4405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8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535A9-389B-FE3F-AD02-1484F351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47B824-597A-6C81-9582-56F1104F1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AB126-1AB3-661D-4B67-855DE8D3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66892-2928-D072-89A9-7BE79C33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D29A08-ABF5-4447-0EDA-861146F7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4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46258D-4AAD-A5B3-903C-5C64976AD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FBD896-F064-0C25-BB01-95A4CABB3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B6809-76D6-0FAF-20F6-B6BA0440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1453A-F2D0-5AE8-73B4-3F3859D4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A4A00-FD51-3947-83D0-4770FD1D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714493-BB8B-9D3E-0CBD-714DA69E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5AEA4E-657A-1579-4302-8D31DBF21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8860C-2606-E8CE-C3B4-27B9E86D0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3CB0E-B1E7-4B08-8B9A-559ABC159DD2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608BC8-9ABD-AC65-60E2-EC7C36CC3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B538F-4F73-9FBC-1147-8FCDDDA45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AB06B-D61A-4E43-BB27-3ADE1010D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88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11" Type="http://schemas.openxmlformats.org/officeDocument/2006/relationships/image" Target="../media/image9.jpeg"/><Relationship Id="rId5" Type="http://schemas.openxmlformats.org/officeDocument/2006/relationships/image" Target="../media/image2.jpeg"/><Relationship Id="rId10" Type="http://schemas.openxmlformats.org/officeDocument/2006/relationships/image" Target="../media/image8.jpeg"/><Relationship Id="rId4" Type="http://schemas.openxmlformats.org/officeDocument/2006/relationships/image" Target="../media/image6.pn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1.jpe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0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029806-D84A-BB84-9E35-FD170FE1009C}"/>
              </a:ext>
            </a:extLst>
          </p:cNvPr>
          <p:cNvGrpSpPr/>
          <p:nvPr/>
        </p:nvGrpSpPr>
        <p:grpSpPr>
          <a:xfrm>
            <a:off x="7065975" y="128336"/>
            <a:ext cx="4997689" cy="3625515"/>
            <a:chOff x="7065975" y="128336"/>
            <a:chExt cx="4997689" cy="362551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1AA82A7-A7B7-45FA-5EB0-72F9933B5922}"/>
                </a:ext>
              </a:extLst>
            </p:cNvPr>
            <p:cNvSpPr/>
            <p:nvPr/>
          </p:nvSpPr>
          <p:spPr>
            <a:xfrm>
              <a:off x="7065975" y="128336"/>
              <a:ext cx="4997689" cy="362551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5C529A2-6FBB-59A8-8228-3806E9D2E060}"/>
                </a:ext>
              </a:extLst>
            </p:cNvPr>
            <p:cNvGrpSpPr/>
            <p:nvPr/>
          </p:nvGrpSpPr>
          <p:grpSpPr>
            <a:xfrm>
              <a:off x="7724271" y="710263"/>
              <a:ext cx="3818022" cy="1927034"/>
              <a:chOff x="7724271" y="710263"/>
              <a:chExt cx="3818022" cy="1927034"/>
            </a:xfrm>
          </p:grpSpPr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9802872-FFC6-D29B-77A6-2E5EF5B5963C}"/>
                  </a:ext>
                </a:extLst>
              </p:cNvPr>
              <p:cNvSpPr txBox="1"/>
              <p:nvPr/>
            </p:nvSpPr>
            <p:spPr>
              <a:xfrm>
                <a:off x="7724271" y="1867856"/>
                <a:ext cx="381802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>
                    <a:solidFill>
                      <a:srgbClr val="139C99"/>
                    </a:solidFill>
                  </a:rPr>
                  <a:t>手腕快换接头</a:t>
                </a:r>
              </a:p>
            </p:txBody>
          </p:sp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A2CFD03-FC8C-2C5D-C109-79A153D07E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8844" y="710263"/>
                <a:ext cx="3416684" cy="9436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7200" b="1" dirty="0">
                    <a:solidFill>
                      <a:srgbClr val="0B5757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均普杯</a:t>
                </a:r>
                <a:endParaRPr lang="zh-CN" altLang="en-US" sz="54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492724A-5917-9D1B-7000-9629CE710623}"/>
              </a:ext>
            </a:extLst>
          </p:cNvPr>
          <p:cNvSpPr/>
          <p:nvPr/>
        </p:nvSpPr>
        <p:spPr>
          <a:xfrm>
            <a:off x="7065975" y="3882190"/>
            <a:ext cx="4997689" cy="284747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9E3201-6EC8-F4E2-AF04-36A7471CC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4242" y="4309980"/>
            <a:ext cx="4058081" cy="2010609"/>
          </a:xfrm>
        </p:spPr>
        <p:txBody>
          <a:bodyPr>
            <a:normAutofit/>
          </a:bodyPr>
          <a:lstStyle/>
          <a:p>
            <a:r>
              <a:rPr lang="zh-CN" altLang="en-US" b="1" dirty="0"/>
              <a:t>小组成员：陈煜暄 </a:t>
            </a:r>
            <a:endParaRPr lang="en-US" altLang="zh-CN" b="1" dirty="0"/>
          </a:p>
          <a:p>
            <a:r>
              <a:rPr lang="zh-CN" altLang="en-US" b="1" dirty="0"/>
              <a:t>                  娄必辉 </a:t>
            </a:r>
            <a:endParaRPr lang="en-US" altLang="zh-CN" b="1" dirty="0"/>
          </a:p>
          <a:p>
            <a:r>
              <a:rPr lang="zh-CN" altLang="en-US" b="1" dirty="0"/>
              <a:t>                  金家俊 </a:t>
            </a:r>
            <a:endParaRPr lang="en-US" altLang="zh-CN" b="1" dirty="0"/>
          </a:p>
          <a:p>
            <a:r>
              <a:rPr lang="zh-CN" altLang="en-US" b="1" dirty="0"/>
              <a:t>                  包高翔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8501989-0DE3-62AC-C634-49D2A9122D04}"/>
              </a:ext>
            </a:extLst>
          </p:cNvPr>
          <p:cNvGrpSpPr/>
          <p:nvPr/>
        </p:nvGrpSpPr>
        <p:grpSpPr>
          <a:xfrm>
            <a:off x="-88516" y="128336"/>
            <a:ext cx="7042195" cy="6601328"/>
            <a:chOff x="-88516" y="128336"/>
            <a:chExt cx="7042195" cy="66013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BFE3187-8AE4-3FA1-4170-C9DA86F90E90}"/>
                </a:ext>
              </a:extLst>
            </p:cNvPr>
            <p:cNvSpPr/>
            <p:nvPr/>
          </p:nvSpPr>
          <p:spPr>
            <a:xfrm>
              <a:off x="128336" y="128336"/>
              <a:ext cx="6825343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AFE2884-3354-5D1A-AD16-B0BCDB5C2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88516" y="1224892"/>
              <a:ext cx="6825343" cy="4452469"/>
            </a:xfrm>
            <a:prstGeom prst="rect">
              <a:avLst/>
            </a:prstGeom>
            <a:effectLst>
              <a:softEdge rad="431800"/>
            </a:effectLst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187452F-D855-274B-FE62-8BD8E576B3F2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8666FB1-747C-9475-6493-F79D443DB3FB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D79038B-58D2-835F-86CA-18AF5148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29" name="标题 1">
              <a:extLst>
                <a:ext uri="{FF2B5EF4-FFF2-40B4-BE49-F238E27FC236}">
                  <a16:creationId xmlns:a16="http://schemas.microsoft.com/office/drawing/2014/main" id="{14120819-B878-41C8-5C84-C4C8F4EE58BF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3D61BA1-F63E-286E-605F-29AD1397B1EB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B182B16-65F3-0B89-EF39-257F15CD6B75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2" name="内容占位符 4">
              <a:extLst>
                <a:ext uri="{FF2B5EF4-FFF2-40B4-BE49-F238E27FC236}">
                  <a16:creationId xmlns:a16="http://schemas.microsoft.com/office/drawing/2014/main" id="{4FD3E426-A0DB-2508-BED8-BA8170A73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33" name="标题 1">
              <a:extLst>
                <a:ext uri="{FF2B5EF4-FFF2-40B4-BE49-F238E27FC236}">
                  <a16:creationId xmlns:a16="http://schemas.microsoft.com/office/drawing/2014/main" id="{7E533031-A91A-4F58-C815-3FC439AC799D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BC79A02-E793-CCEF-A603-874C667317EA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06B105B-7088-EE81-CA79-B6F4A7E7F1F3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35DAB84D-0ADA-3E5B-754B-B2469B22C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37" name="标题 1">
              <a:extLst>
                <a:ext uri="{FF2B5EF4-FFF2-40B4-BE49-F238E27FC236}">
                  <a16:creationId xmlns:a16="http://schemas.microsoft.com/office/drawing/2014/main" id="{924437D8-BE78-4D9C-6C00-4448A7D06A85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66CC67D-CAB4-F362-E0B3-98FC651DACDC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E5FC1A9-25DF-F73E-6F9D-B555F546EA43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标题 1">
              <a:extLst>
                <a:ext uri="{FF2B5EF4-FFF2-40B4-BE49-F238E27FC236}">
                  <a16:creationId xmlns:a16="http://schemas.microsoft.com/office/drawing/2014/main" id="{81988DB6-1AA9-CA44-D83B-1593175AD159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4B2F78C6-EF3E-696A-B6E1-3EBE4CB3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</p:spTree>
    <p:extLst>
      <p:ext uri="{BB962C8B-B14F-4D97-AF65-F5344CB8AC3E}">
        <p14:creationId xmlns:p14="http://schemas.microsoft.com/office/powerpoint/2010/main" val="262241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B51BE-508F-96D7-510F-192F652E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83C2C0F3-48CB-02F6-F098-555C29729789}"/>
              </a:ext>
            </a:extLst>
          </p:cNvPr>
          <p:cNvGrpSpPr/>
          <p:nvPr/>
        </p:nvGrpSpPr>
        <p:grpSpPr>
          <a:xfrm>
            <a:off x="7065972" y="-3947464"/>
            <a:ext cx="4997689" cy="3625515"/>
            <a:chOff x="7065975" y="128336"/>
            <a:chExt cx="4997689" cy="362551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595E63D-F54B-3411-D6D1-1B50A4239823}"/>
                </a:ext>
              </a:extLst>
            </p:cNvPr>
            <p:cNvSpPr/>
            <p:nvPr/>
          </p:nvSpPr>
          <p:spPr>
            <a:xfrm>
              <a:off x="7065975" y="128336"/>
              <a:ext cx="4997689" cy="362551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7DA9D873-97E0-C03F-DE10-0956C59EA669}"/>
                </a:ext>
              </a:extLst>
            </p:cNvPr>
            <p:cNvGrpSpPr/>
            <p:nvPr/>
          </p:nvGrpSpPr>
          <p:grpSpPr>
            <a:xfrm>
              <a:off x="7724271" y="710263"/>
              <a:ext cx="3818022" cy="1927034"/>
              <a:chOff x="7724271" y="710263"/>
              <a:chExt cx="3818022" cy="1927034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25D538C-470D-980A-BCB3-26EE182CD451}"/>
                  </a:ext>
                </a:extLst>
              </p:cNvPr>
              <p:cNvSpPr txBox="1"/>
              <p:nvPr/>
            </p:nvSpPr>
            <p:spPr>
              <a:xfrm>
                <a:off x="7724271" y="1867856"/>
                <a:ext cx="381802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>
                    <a:solidFill>
                      <a:srgbClr val="139C99"/>
                    </a:solidFill>
                  </a:rPr>
                  <a:t>手腕快换接头</a:t>
                </a:r>
              </a:p>
            </p:txBody>
          </p:sp>
          <p:sp>
            <p:nvSpPr>
              <p:cNvPr id="35" name="标题 1">
                <a:extLst>
                  <a:ext uri="{FF2B5EF4-FFF2-40B4-BE49-F238E27FC236}">
                    <a16:creationId xmlns:a16="http://schemas.microsoft.com/office/drawing/2014/main" id="{0548032B-83C4-36ED-8C78-A6BCFC6CE3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8844" y="710263"/>
                <a:ext cx="3416684" cy="9436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7200" b="1" dirty="0">
                    <a:solidFill>
                      <a:srgbClr val="0B5757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均普杯</a:t>
                </a:r>
                <a:endParaRPr lang="zh-CN" altLang="en-US" sz="54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3AEAF71-AC28-2B1C-DE7E-7BFE882060CA}"/>
              </a:ext>
            </a:extLst>
          </p:cNvPr>
          <p:cNvGrpSpPr/>
          <p:nvPr/>
        </p:nvGrpSpPr>
        <p:grpSpPr>
          <a:xfrm>
            <a:off x="-7366590" y="153964"/>
            <a:ext cx="7042195" cy="6601328"/>
            <a:chOff x="-7366590" y="153964"/>
            <a:chExt cx="7042195" cy="660132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58C5244-F1EE-876B-E6AB-7CCE8EE2E7B3}"/>
                </a:ext>
              </a:extLst>
            </p:cNvPr>
            <p:cNvSpPr/>
            <p:nvPr/>
          </p:nvSpPr>
          <p:spPr>
            <a:xfrm>
              <a:off x="-7149738" y="153964"/>
              <a:ext cx="6825343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78706E3-6A0B-1690-7E60-8B64D5108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7366590" y="1250520"/>
              <a:ext cx="6825343" cy="4452469"/>
            </a:xfrm>
            <a:prstGeom prst="rect">
              <a:avLst/>
            </a:prstGeom>
            <a:effectLst>
              <a:softEdge rad="431800"/>
            </a:effectLst>
          </p:spPr>
        </p:pic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5F05DCA8-8562-ED62-9789-ED19C8C5A6A1}"/>
              </a:ext>
            </a:extLst>
          </p:cNvPr>
          <p:cNvSpPr/>
          <p:nvPr/>
        </p:nvSpPr>
        <p:spPr>
          <a:xfrm>
            <a:off x="7065973" y="7120981"/>
            <a:ext cx="4997689" cy="284747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副标题 2">
            <a:extLst>
              <a:ext uri="{FF2B5EF4-FFF2-40B4-BE49-F238E27FC236}">
                <a16:creationId xmlns:a16="http://schemas.microsoft.com/office/drawing/2014/main" id="{4584373D-DA58-81CB-F765-0B47201F3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4240" y="7548771"/>
            <a:ext cx="4058081" cy="2010609"/>
          </a:xfrm>
        </p:spPr>
        <p:txBody>
          <a:bodyPr>
            <a:normAutofit/>
          </a:bodyPr>
          <a:lstStyle/>
          <a:p>
            <a:r>
              <a:rPr lang="zh-CN" altLang="en-US" b="1" dirty="0"/>
              <a:t>小组成员：陈煜暄 </a:t>
            </a:r>
            <a:endParaRPr lang="en-US" altLang="zh-CN" b="1" dirty="0"/>
          </a:p>
          <a:p>
            <a:r>
              <a:rPr lang="zh-CN" altLang="en-US" b="1" dirty="0"/>
              <a:t>                  娄必辉 </a:t>
            </a:r>
            <a:endParaRPr lang="en-US" altLang="zh-CN" b="1" dirty="0"/>
          </a:p>
          <a:p>
            <a:r>
              <a:rPr lang="zh-CN" altLang="en-US" b="1" dirty="0"/>
              <a:t>                  金家俊 </a:t>
            </a:r>
            <a:endParaRPr lang="en-US" altLang="zh-CN" b="1" dirty="0"/>
          </a:p>
          <a:p>
            <a:r>
              <a:rPr lang="zh-CN" altLang="en-US" b="1" dirty="0"/>
              <a:t>                  包高翔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ECA0AF5-F95E-3BAD-0E95-F40BA7C21F4F}"/>
              </a:ext>
            </a:extLst>
          </p:cNvPr>
          <p:cNvGrpSpPr/>
          <p:nvPr/>
        </p:nvGrpSpPr>
        <p:grpSpPr>
          <a:xfrm>
            <a:off x="8157751" y="128336"/>
            <a:ext cx="4034249" cy="6601328"/>
            <a:chOff x="8157751" y="128336"/>
            <a:chExt cx="4034249" cy="660132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4D8A09D-F6F9-E2FE-4F49-06682C141BFB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标题 1">
              <a:extLst>
                <a:ext uri="{FF2B5EF4-FFF2-40B4-BE49-F238E27FC236}">
                  <a16:creationId xmlns:a16="http://schemas.microsoft.com/office/drawing/2014/main" id="{16792D24-414F-9583-1C67-911B72863D12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7841FF4-D37B-851C-A6FA-756C6B9F1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B1B1AC-373A-6C19-44B2-D8D13090AFB5}"/>
              </a:ext>
            </a:extLst>
          </p:cNvPr>
          <p:cNvGrpSpPr/>
          <p:nvPr/>
        </p:nvGrpSpPr>
        <p:grpSpPr>
          <a:xfrm>
            <a:off x="3986463" y="128336"/>
            <a:ext cx="4219073" cy="3184358"/>
            <a:chOff x="3986463" y="128336"/>
            <a:chExt cx="4219073" cy="318435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4A15D96-D717-8857-B40C-7FFEB464057C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3" name="内容占位符 4">
              <a:extLst>
                <a:ext uri="{FF2B5EF4-FFF2-40B4-BE49-F238E27FC236}">
                  <a16:creationId xmlns:a16="http://schemas.microsoft.com/office/drawing/2014/main" id="{E8F35360-0489-2C43-5163-8AFF62A9E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24" name="标题 1">
              <a:extLst>
                <a:ext uri="{FF2B5EF4-FFF2-40B4-BE49-F238E27FC236}">
                  <a16:creationId xmlns:a16="http://schemas.microsoft.com/office/drawing/2014/main" id="{3E1BA97C-5DAD-81EF-F8CD-3EF5595A8C10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460D64B-BADB-4F16-8514-71378E75CC8D}"/>
              </a:ext>
            </a:extLst>
          </p:cNvPr>
          <p:cNvGrpSpPr/>
          <p:nvPr/>
        </p:nvGrpSpPr>
        <p:grpSpPr>
          <a:xfrm>
            <a:off x="128336" y="128336"/>
            <a:ext cx="3705726" cy="6601328"/>
            <a:chOff x="128336" y="128336"/>
            <a:chExt cx="3705726" cy="66013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EEFD6F1-6F60-E32B-77E0-48F5A1136BCD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09D3F85-2717-E12E-EF35-FF1FCCF3D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E3A22587-C45B-B418-1ABD-55C62B36B2C7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0E1211C-9FBD-024C-BA9D-189848F9AC31}"/>
              </a:ext>
            </a:extLst>
          </p:cNvPr>
          <p:cNvGrpSpPr/>
          <p:nvPr/>
        </p:nvGrpSpPr>
        <p:grpSpPr>
          <a:xfrm>
            <a:off x="3986463" y="3429000"/>
            <a:ext cx="4219073" cy="3300664"/>
            <a:chOff x="3986463" y="3429000"/>
            <a:chExt cx="4219073" cy="33006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E7B484B-7918-642A-5BAD-9854E190153A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FECE3D9-05E9-7F4D-F278-380CACFA5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724C4366-6CC2-F4B2-CBED-9AF924401064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723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ea2b557c193e830d9a29306d036eb87_raw">
            <a:hlinkClick r:id="" action="ppaction://media"/>
            <a:extLst>
              <a:ext uri="{FF2B5EF4-FFF2-40B4-BE49-F238E27FC236}">
                <a16:creationId xmlns:a16="http://schemas.microsoft.com/office/drawing/2014/main" id="{7F0F2C19-F617-42A5-A056-3BFE91BBB11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29640" y="-395024"/>
            <a:ext cx="13121640" cy="8746696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FC261AB-03E9-E823-FEC5-05936886714B}"/>
              </a:ext>
            </a:extLst>
          </p:cNvPr>
          <p:cNvSpPr txBox="1"/>
          <p:nvPr/>
        </p:nvSpPr>
        <p:spPr>
          <a:xfrm>
            <a:off x="3809998" y="442025"/>
            <a:ext cx="3818022" cy="70788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工作动态演示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BF8623B-6389-EDB9-5E63-EB74BF948976}"/>
              </a:ext>
            </a:extLst>
          </p:cNvPr>
          <p:cNvSpPr txBox="1">
            <a:spLocks/>
          </p:cNvSpPr>
          <p:nvPr/>
        </p:nvSpPr>
        <p:spPr>
          <a:xfrm>
            <a:off x="690095" y="324119"/>
            <a:ext cx="3416684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EEAC6F-88AE-EA10-3156-5F33AD74B885}"/>
              </a:ext>
            </a:extLst>
          </p:cNvPr>
          <p:cNvSpPr txBox="1"/>
          <p:nvPr/>
        </p:nvSpPr>
        <p:spPr>
          <a:xfrm>
            <a:off x="9103553" y="2497450"/>
            <a:ext cx="24814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B5757"/>
                </a:solidFill>
              </a:rPr>
              <a:t>真快换</a:t>
            </a:r>
            <a:endParaRPr lang="en-US" altLang="zh-CN" sz="2800" b="1" dirty="0">
              <a:solidFill>
                <a:srgbClr val="0B5757"/>
              </a:solidFill>
            </a:endParaRPr>
          </a:p>
          <a:p>
            <a:r>
              <a:rPr lang="zh-CN" altLang="en-US" sz="2800" b="1" dirty="0">
                <a:solidFill>
                  <a:srgbClr val="0B5757"/>
                </a:solidFill>
              </a:rPr>
              <a:t>插入即锁定</a:t>
            </a:r>
            <a:endParaRPr lang="en-US" altLang="zh-CN" sz="2800" b="1" dirty="0">
              <a:solidFill>
                <a:srgbClr val="0B5757"/>
              </a:solidFill>
            </a:endParaRPr>
          </a:p>
          <a:p>
            <a:r>
              <a:rPr lang="zh-CN" altLang="en-US" sz="2800" b="1" dirty="0">
                <a:solidFill>
                  <a:srgbClr val="0B5757"/>
                </a:solidFill>
              </a:rPr>
              <a:t>拔出即松脱</a:t>
            </a:r>
            <a:endParaRPr lang="en-US" altLang="zh-CN" sz="2800" b="1" dirty="0">
              <a:solidFill>
                <a:srgbClr val="0B5757"/>
              </a:solidFill>
            </a:endParaRPr>
          </a:p>
          <a:p>
            <a:endParaRPr lang="en-US" altLang="zh-CN" sz="2800" b="1" dirty="0">
              <a:solidFill>
                <a:srgbClr val="0B5757"/>
              </a:solidFill>
            </a:endParaRPr>
          </a:p>
          <a:p>
            <a:r>
              <a:rPr lang="zh-CN" altLang="en-US" sz="2800" b="1" dirty="0">
                <a:solidFill>
                  <a:srgbClr val="0B5757"/>
                </a:solidFill>
              </a:rPr>
              <a:t>无多余操作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8425B15-3186-09D5-2093-BBD98A5E0C7C}"/>
              </a:ext>
            </a:extLst>
          </p:cNvPr>
          <p:cNvGrpSpPr/>
          <p:nvPr/>
        </p:nvGrpSpPr>
        <p:grpSpPr>
          <a:xfrm>
            <a:off x="-4912324" y="0"/>
            <a:ext cx="3705726" cy="6601328"/>
            <a:chOff x="128336" y="128336"/>
            <a:chExt cx="3705726" cy="660132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3559552-FB4B-681C-42C5-50F246B146D9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FFC846A-43BB-4E65-A800-B5E4205DC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E4FE399C-625C-3D74-A84E-F391A8E7F248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DB6AAE7-D86B-80E6-A4CC-24405849A4C9}"/>
              </a:ext>
            </a:extLst>
          </p:cNvPr>
          <p:cNvGrpSpPr/>
          <p:nvPr/>
        </p:nvGrpSpPr>
        <p:grpSpPr>
          <a:xfrm>
            <a:off x="3809998" y="-3697288"/>
            <a:ext cx="4219073" cy="3184358"/>
            <a:chOff x="3986463" y="128336"/>
            <a:chExt cx="4219073" cy="318435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7204F0E-40E3-8C0D-2AC5-767906249529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内容占位符 4">
              <a:extLst>
                <a:ext uri="{FF2B5EF4-FFF2-40B4-BE49-F238E27FC236}">
                  <a16:creationId xmlns:a16="http://schemas.microsoft.com/office/drawing/2014/main" id="{E9ED8C3D-1FA7-461C-37F3-FD7535B40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13" name="标题 1">
              <a:extLst>
                <a:ext uri="{FF2B5EF4-FFF2-40B4-BE49-F238E27FC236}">
                  <a16:creationId xmlns:a16="http://schemas.microsoft.com/office/drawing/2014/main" id="{DEA80368-328F-FD57-EA08-5EDCFD21D56D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9E4D3D1-93FC-D961-548A-466F0FEA5969}"/>
              </a:ext>
            </a:extLst>
          </p:cNvPr>
          <p:cNvGrpSpPr/>
          <p:nvPr/>
        </p:nvGrpSpPr>
        <p:grpSpPr>
          <a:xfrm>
            <a:off x="3814464" y="7189817"/>
            <a:ext cx="4219073" cy="3300664"/>
            <a:chOff x="3986463" y="3429000"/>
            <a:chExt cx="4219073" cy="330066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0A546FD-E82B-DCE4-3CA9-AD26427D5B44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714B9D5-7D3E-13DB-3282-9752F779A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17" name="标题 1">
              <a:extLst>
                <a:ext uri="{FF2B5EF4-FFF2-40B4-BE49-F238E27FC236}">
                  <a16:creationId xmlns:a16="http://schemas.microsoft.com/office/drawing/2014/main" id="{B3CFF676-2DA3-6862-AC3C-71C22618DB31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3207A3D-40EC-7066-A204-973009195D85}"/>
              </a:ext>
            </a:extLst>
          </p:cNvPr>
          <p:cNvGrpSpPr/>
          <p:nvPr/>
        </p:nvGrpSpPr>
        <p:grpSpPr>
          <a:xfrm>
            <a:off x="12200361" y="0"/>
            <a:ext cx="4034249" cy="6601328"/>
            <a:chOff x="8157751" y="128336"/>
            <a:chExt cx="4034249" cy="6601328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92DA29D-A7D9-D089-8E44-C66D5ABBA5A4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标题 1">
              <a:extLst>
                <a:ext uri="{FF2B5EF4-FFF2-40B4-BE49-F238E27FC236}">
                  <a16:creationId xmlns:a16="http://schemas.microsoft.com/office/drawing/2014/main" id="{411846D6-05EB-9644-7286-7C6B9EEE38F7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A500167-6FA6-ADF0-1322-6F2EA96E6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0FE7F14-01A0-14A0-9B99-EEB1EEC29359}"/>
              </a:ext>
            </a:extLst>
          </p:cNvPr>
          <p:cNvSpPr/>
          <p:nvPr/>
        </p:nvSpPr>
        <p:spPr>
          <a:xfrm>
            <a:off x="-147189" y="7189817"/>
            <a:ext cx="3705724" cy="464190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1793294-639F-92FC-1168-6F298B6F5A14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7035" y="8847919"/>
            <a:ext cx="2816942" cy="269213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D80494E-7C5B-6A6F-75FC-DDA65E4BF596}"/>
              </a:ext>
            </a:extLst>
          </p:cNvPr>
          <p:cNvSpPr txBox="1"/>
          <p:nvPr/>
        </p:nvSpPr>
        <p:spPr>
          <a:xfrm>
            <a:off x="696511" y="7897703"/>
            <a:ext cx="201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电磁铁驱动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4D6A5D-52DE-CF45-40A1-5736F01C5915}"/>
              </a:ext>
            </a:extLst>
          </p:cNvPr>
          <p:cNvSpPr/>
          <p:nvPr/>
        </p:nvSpPr>
        <p:spPr>
          <a:xfrm>
            <a:off x="8259906" y="7189817"/>
            <a:ext cx="3705725" cy="66013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B2D418A-4713-66FB-1E3C-930124DDF10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5186" y="9149238"/>
            <a:ext cx="2927249" cy="3497058"/>
          </a:xfrm>
          <a:prstGeom prst="rect">
            <a:avLst/>
          </a:prstGeom>
          <a:effectLst>
            <a:softEdge rad="215900"/>
          </a:effec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E848B1CB-C4D6-3820-7C99-03830A8C5EFB}"/>
              </a:ext>
            </a:extLst>
          </p:cNvPr>
          <p:cNvSpPr txBox="1"/>
          <p:nvPr/>
        </p:nvSpPr>
        <p:spPr>
          <a:xfrm>
            <a:off x="8957897" y="8101606"/>
            <a:ext cx="2481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经过改装也可以使用丝杆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C28BDC5-38AF-87DE-9511-D71FA543CD8E}"/>
              </a:ext>
            </a:extLst>
          </p:cNvPr>
          <p:cNvSpPr txBox="1"/>
          <p:nvPr/>
        </p:nvSpPr>
        <p:spPr>
          <a:xfrm>
            <a:off x="5242372" y="-5988625"/>
            <a:ext cx="1707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手动开启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F848979-9903-AE6E-E011-32FD986C8975}"/>
              </a:ext>
            </a:extLst>
          </p:cNvPr>
          <p:cNvGrpSpPr/>
          <p:nvPr/>
        </p:nvGrpSpPr>
        <p:grpSpPr>
          <a:xfrm>
            <a:off x="3809997" y="-7177341"/>
            <a:ext cx="4219073" cy="6601328"/>
            <a:chOff x="3986463" y="128336"/>
            <a:chExt cx="4219073" cy="6601328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C8FABE7-48CE-E7E1-3C75-6459B0F6C1D3}"/>
                </a:ext>
              </a:extLst>
            </p:cNvPr>
            <p:cNvSpPr/>
            <p:nvPr/>
          </p:nvSpPr>
          <p:spPr>
            <a:xfrm>
              <a:off x="3986463" y="128336"/>
              <a:ext cx="4219073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D98965FB-4A86-B69D-ED9F-C632DAEE8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4144" y="2087757"/>
              <a:ext cx="3123711" cy="3904096"/>
            </a:xfrm>
            <a:prstGeom prst="rect">
              <a:avLst/>
            </a:prstGeom>
            <a:effectLst>
              <a:softEdge rad="342900"/>
            </a:effectLst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990C64F-A5C6-5F16-FE46-F40A948DE80D}"/>
                </a:ext>
              </a:extLst>
            </p:cNvPr>
            <p:cNvSpPr txBox="1"/>
            <p:nvPr/>
          </p:nvSpPr>
          <p:spPr>
            <a:xfrm>
              <a:off x="5242372" y="1255569"/>
              <a:ext cx="1707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手动开启</a:t>
              </a: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05A80F4-4C98-E613-0ADB-1F6BBD888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3276" y="3029447"/>
              <a:ext cx="0" cy="1325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C8135ED5-3B53-EAA8-96E0-3E2D6EA36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970" y="3029447"/>
              <a:ext cx="0" cy="1325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2370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1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4CE43-7EEC-08F8-02F1-08547092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2D558B29-89E9-D85B-E08C-9ABCCEDB58EF}"/>
              </a:ext>
            </a:extLst>
          </p:cNvPr>
          <p:cNvGrpSpPr/>
          <p:nvPr/>
        </p:nvGrpSpPr>
        <p:grpSpPr>
          <a:xfrm>
            <a:off x="151545" y="7133000"/>
            <a:ext cx="11917888" cy="5585606"/>
            <a:chOff x="128338" y="1144059"/>
            <a:chExt cx="11917888" cy="558560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6611492-B7A9-A43D-0D02-7750A091B029}"/>
                </a:ext>
              </a:extLst>
            </p:cNvPr>
            <p:cNvGrpSpPr/>
            <p:nvPr/>
          </p:nvGrpSpPr>
          <p:grpSpPr>
            <a:xfrm>
              <a:off x="128338" y="1144059"/>
              <a:ext cx="11917888" cy="5585606"/>
              <a:chOff x="128338" y="1144059"/>
              <a:chExt cx="11917888" cy="5585606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B9CDC64D-9F4B-4AD4-2D15-32E1923365CF}"/>
                  </a:ext>
                </a:extLst>
              </p:cNvPr>
              <p:cNvGrpSpPr/>
              <p:nvPr/>
            </p:nvGrpSpPr>
            <p:grpSpPr>
              <a:xfrm>
                <a:off x="128338" y="1144059"/>
                <a:ext cx="11917888" cy="5585606"/>
                <a:chOff x="128338" y="1144059"/>
                <a:chExt cx="11917888" cy="5585606"/>
              </a:xfrm>
            </p:grpSpPr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93991D8D-0E0D-B07C-34AF-381E4D9FFF8B}"/>
                    </a:ext>
                  </a:extLst>
                </p:cNvPr>
                <p:cNvSpPr/>
                <p:nvPr/>
              </p:nvSpPr>
              <p:spPr>
                <a:xfrm>
                  <a:off x="128338" y="1144059"/>
                  <a:ext cx="11917888" cy="5585606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2">
                        <a:lumMod val="9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B8EA667D-731E-A728-C047-F97DE65D40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05507" y="1442547"/>
                  <a:ext cx="5252080" cy="4955078"/>
                </a:xfrm>
                <a:prstGeom prst="rect">
                  <a:avLst/>
                </a:prstGeom>
                <a:effectLst>
                  <a:softEdge rad="266700"/>
                </a:effectLst>
              </p:spPr>
            </p:pic>
            <p:cxnSp>
              <p:nvCxnSpPr>
                <p:cNvPr id="39" name="直接箭头连接符 38">
                  <a:extLst>
                    <a:ext uri="{FF2B5EF4-FFF2-40B4-BE49-F238E27FC236}">
                      <a16:creationId xmlns:a16="http://schemas.microsoft.com/office/drawing/2014/main" id="{34C2165F-6FFB-9220-0D36-D3641BC09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01469" y="3275937"/>
                  <a:ext cx="1055903" cy="1016040"/>
                </a:xfrm>
                <a:prstGeom prst="straightConnector1">
                  <a:avLst/>
                </a:prstGeom>
                <a:ln w="76200">
                  <a:solidFill>
                    <a:schemeClr val="accent2"/>
                  </a:solidFill>
                  <a:tailEnd type="triangle"/>
                </a:ln>
                <a:effectLst>
                  <a:glow rad="228600">
                    <a:schemeClr val="tx1">
                      <a:lumMod val="95000"/>
                      <a:lumOff val="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E2EC0BA2-CC43-87E1-DA8C-F4FE13327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63056" y="3275937"/>
                  <a:ext cx="1094316" cy="1016040"/>
                </a:xfrm>
                <a:prstGeom prst="straightConnector1">
                  <a:avLst/>
                </a:prstGeom>
                <a:ln w="76200">
                  <a:solidFill>
                    <a:schemeClr val="accent2"/>
                  </a:solidFill>
                  <a:tailEnd type="triangle"/>
                </a:ln>
                <a:effectLst>
                  <a:glow rad="228600">
                    <a:schemeClr val="tx1">
                      <a:lumMod val="95000"/>
                      <a:lumOff val="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87C342A-98C7-F3CA-DF3D-6402165D9254}"/>
                    </a:ext>
                  </a:extLst>
                </p:cNvPr>
                <p:cNvSpPr txBox="1"/>
                <p:nvPr/>
              </p:nvSpPr>
              <p:spPr>
                <a:xfrm>
                  <a:off x="6734755" y="2366969"/>
                  <a:ext cx="5311471" cy="37240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b="1" dirty="0">
                      <a:solidFill>
                        <a:srgbClr val="0B5757"/>
                      </a:solidFill>
                    </a:rPr>
                    <a:t>下法兰盘受拉力</a:t>
                  </a:r>
                  <a:endParaRPr lang="en-US" altLang="zh-CN" sz="3600" b="1" dirty="0">
                    <a:solidFill>
                      <a:srgbClr val="0B5757"/>
                    </a:solidFill>
                  </a:endParaRPr>
                </a:p>
                <a:p>
                  <a:endParaRPr lang="en-US" altLang="zh-CN" sz="3600" dirty="0"/>
                </a:p>
                <a:p>
                  <a:r>
                    <a:rPr lang="zh-CN" altLang="en-US" sz="3200" dirty="0"/>
                    <a:t>力由两个红色力合成抵消</a:t>
                  </a:r>
                  <a:endParaRPr lang="en-US" altLang="zh-CN" sz="3200" dirty="0"/>
                </a:p>
                <a:p>
                  <a:endParaRPr lang="en-US" altLang="zh-CN" sz="3200" dirty="0"/>
                </a:p>
                <a:p>
                  <a:r>
                    <a:rPr lang="zh-CN" altLang="en-US" sz="3200" dirty="0"/>
                    <a:t>最终拉力传导到上端面成为两个蓝色的力</a:t>
                  </a:r>
                  <a:endParaRPr lang="en-US" altLang="zh-CN" sz="3200" dirty="0"/>
                </a:p>
                <a:p>
                  <a:endParaRPr lang="zh-CN" altLang="en-US" sz="3600" dirty="0"/>
                </a:p>
              </p:txBody>
            </p:sp>
          </p:grp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654F918D-227D-D3F9-F961-5CD6C12F8F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8647" y="4352571"/>
                <a:ext cx="1357353" cy="1062882"/>
              </a:xfrm>
              <a:prstGeom prst="straightConnector1">
                <a:avLst/>
              </a:prstGeom>
              <a:ln w="76200">
                <a:solidFill>
                  <a:srgbClr val="0B5757"/>
                </a:solidFill>
                <a:tailEnd type="triangle"/>
              </a:ln>
              <a:effectLst>
                <a:glow rad="228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BD30ECD-3052-0232-DD02-81C357E3CD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59951" y="4352128"/>
                <a:ext cx="1062162" cy="976061"/>
              </a:xfrm>
              <a:prstGeom prst="straightConnector1">
                <a:avLst/>
              </a:prstGeom>
              <a:ln w="76200">
                <a:solidFill>
                  <a:srgbClr val="0B5757"/>
                </a:solidFill>
                <a:tailEnd type="triangle"/>
              </a:ln>
              <a:effectLst>
                <a:glow rad="228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D8A94A0E-D768-E5B6-3DB9-629F91182219}"/>
                </a:ext>
              </a:extLst>
            </p:cNvPr>
            <p:cNvCxnSpPr>
              <a:cxnSpLocks/>
            </p:cNvCxnSpPr>
            <p:nvPr/>
          </p:nvCxnSpPr>
          <p:spPr>
            <a:xfrm>
              <a:off x="3584381" y="4840158"/>
              <a:ext cx="0" cy="168368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C4C9DBC6-797D-3929-EEE8-55EDFF545450}"/>
              </a:ext>
            </a:extLst>
          </p:cNvPr>
          <p:cNvSpPr/>
          <p:nvPr/>
        </p:nvSpPr>
        <p:spPr>
          <a:xfrm>
            <a:off x="128338" y="2087757"/>
            <a:ext cx="3705724" cy="464190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D6D2C8-987B-D242-DC83-47A45909E0E9}"/>
              </a:ext>
            </a:extLst>
          </p:cNvPr>
          <p:cNvSpPr/>
          <p:nvPr/>
        </p:nvSpPr>
        <p:spPr>
          <a:xfrm>
            <a:off x="8357937" y="128336"/>
            <a:ext cx="3705725" cy="66013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B8AE2F-A1DE-59DC-6EE2-42356E737264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58ABB8-F8F7-D294-330B-BC84BDD27014}"/>
              </a:ext>
            </a:extLst>
          </p:cNvPr>
          <p:cNvSpPr txBox="1"/>
          <p:nvPr/>
        </p:nvSpPr>
        <p:spPr>
          <a:xfrm>
            <a:off x="459412" y="1258706"/>
            <a:ext cx="3254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多种松脱方式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1B472A-39D7-9558-4C96-11595962D62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2562" y="3745859"/>
            <a:ext cx="2816942" cy="269213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EDF544C-1447-C6F9-896D-E5330A2D2AB4}"/>
              </a:ext>
            </a:extLst>
          </p:cNvPr>
          <p:cNvSpPr txBox="1"/>
          <p:nvPr/>
        </p:nvSpPr>
        <p:spPr>
          <a:xfrm>
            <a:off x="972038" y="2795643"/>
            <a:ext cx="201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电磁铁驱动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86DE51-BEB1-7179-AD89-DD28B7737BE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3217" y="2087757"/>
            <a:ext cx="2927249" cy="3497058"/>
          </a:xfrm>
          <a:prstGeom prst="rect">
            <a:avLst/>
          </a:prstGeom>
          <a:effectLst>
            <a:softEdge rad="215900"/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6DD7221-F473-C29D-818D-918A5E320526}"/>
              </a:ext>
            </a:extLst>
          </p:cNvPr>
          <p:cNvSpPr txBox="1"/>
          <p:nvPr/>
        </p:nvSpPr>
        <p:spPr>
          <a:xfrm>
            <a:off x="9055928" y="1040125"/>
            <a:ext cx="2481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经过改装也可以使用丝杆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0E5F273-C8BF-E9D4-2856-7B51E89D3905}"/>
              </a:ext>
            </a:extLst>
          </p:cNvPr>
          <p:cNvGrpSpPr/>
          <p:nvPr/>
        </p:nvGrpSpPr>
        <p:grpSpPr>
          <a:xfrm>
            <a:off x="3986463" y="128336"/>
            <a:ext cx="4219073" cy="6601328"/>
            <a:chOff x="3986463" y="128336"/>
            <a:chExt cx="4219073" cy="660132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56FCDB1-7A09-9FE3-DBDF-A907BC6B0D37}"/>
                </a:ext>
              </a:extLst>
            </p:cNvPr>
            <p:cNvSpPr/>
            <p:nvPr/>
          </p:nvSpPr>
          <p:spPr>
            <a:xfrm>
              <a:off x="3986463" y="128336"/>
              <a:ext cx="4219073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F6CE838-9510-A613-5D0A-D0EB78A0F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4144" y="2087757"/>
              <a:ext cx="3123711" cy="3904096"/>
            </a:xfrm>
            <a:prstGeom prst="rect">
              <a:avLst/>
            </a:prstGeom>
            <a:effectLst>
              <a:softEdge rad="342900"/>
            </a:effec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A6E54EA-9D73-8C98-E209-281603E85A2A}"/>
                </a:ext>
              </a:extLst>
            </p:cNvPr>
            <p:cNvSpPr txBox="1"/>
            <p:nvPr/>
          </p:nvSpPr>
          <p:spPr>
            <a:xfrm>
              <a:off x="5242372" y="1255569"/>
              <a:ext cx="1707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手动开启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2D80852-860B-66EF-1852-C7815D68C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3276" y="3029447"/>
              <a:ext cx="0" cy="1325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2F833ED-30F3-1C59-04A4-1C77ADE7D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970" y="3029447"/>
              <a:ext cx="0" cy="1325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8645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B7DD4-A41C-AF5E-678F-B33324E6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DCA16FA2-E41D-4FFE-A063-6B79F64B442F}"/>
              </a:ext>
            </a:extLst>
          </p:cNvPr>
          <p:cNvGrpSpPr/>
          <p:nvPr/>
        </p:nvGrpSpPr>
        <p:grpSpPr>
          <a:xfrm>
            <a:off x="128338" y="1144059"/>
            <a:ext cx="11917888" cy="5585606"/>
            <a:chOff x="128338" y="1144059"/>
            <a:chExt cx="11917888" cy="558560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9E52397-9ADB-F275-B384-0AC9BB510F37}"/>
                </a:ext>
              </a:extLst>
            </p:cNvPr>
            <p:cNvGrpSpPr/>
            <p:nvPr/>
          </p:nvGrpSpPr>
          <p:grpSpPr>
            <a:xfrm>
              <a:off x="128338" y="1144059"/>
              <a:ext cx="11917888" cy="5585606"/>
              <a:chOff x="128338" y="1144059"/>
              <a:chExt cx="11917888" cy="5585606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31AEA507-E093-320C-04EB-2FBD66E492E2}"/>
                  </a:ext>
                </a:extLst>
              </p:cNvPr>
              <p:cNvGrpSpPr/>
              <p:nvPr/>
            </p:nvGrpSpPr>
            <p:grpSpPr>
              <a:xfrm>
                <a:off x="128338" y="1144059"/>
                <a:ext cx="11917888" cy="5585606"/>
                <a:chOff x="128338" y="1144059"/>
                <a:chExt cx="11917888" cy="5585606"/>
              </a:xfrm>
            </p:grpSpPr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FA2B0FDE-27E7-EAC3-3272-9063B42E2AC0}"/>
                    </a:ext>
                  </a:extLst>
                </p:cNvPr>
                <p:cNvSpPr/>
                <p:nvPr/>
              </p:nvSpPr>
              <p:spPr>
                <a:xfrm>
                  <a:off x="128338" y="1144059"/>
                  <a:ext cx="11917888" cy="5585606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2">
                        <a:lumMod val="9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24" name="图片 23">
                  <a:extLst>
                    <a:ext uri="{FF2B5EF4-FFF2-40B4-BE49-F238E27FC236}">
                      <a16:creationId xmlns:a16="http://schemas.microsoft.com/office/drawing/2014/main" id="{F607D2B4-B4D8-5C09-FE11-A4597912CE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05507" y="1442547"/>
                  <a:ext cx="5252080" cy="4955078"/>
                </a:xfrm>
                <a:prstGeom prst="rect">
                  <a:avLst/>
                </a:prstGeom>
                <a:effectLst>
                  <a:softEdge rad="266700"/>
                </a:effectLst>
              </p:spPr>
            </p:pic>
            <p:cxnSp>
              <p:nvCxnSpPr>
                <p:cNvPr id="12" name="直接箭头连接符 11">
                  <a:extLst>
                    <a:ext uri="{FF2B5EF4-FFF2-40B4-BE49-F238E27FC236}">
                      <a16:creationId xmlns:a16="http://schemas.microsoft.com/office/drawing/2014/main" id="{FA437EE6-8A5D-803B-7BDE-75227F31A0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01469" y="3275937"/>
                  <a:ext cx="1055903" cy="1016040"/>
                </a:xfrm>
                <a:prstGeom prst="straightConnector1">
                  <a:avLst/>
                </a:prstGeom>
                <a:ln w="76200">
                  <a:solidFill>
                    <a:schemeClr val="accent2"/>
                  </a:solidFill>
                  <a:tailEnd type="triangle"/>
                </a:ln>
                <a:effectLst>
                  <a:glow rad="228600">
                    <a:schemeClr val="tx1">
                      <a:lumMod val="95000"/>
                      <a:lumOff val="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AC2056D1-BB19-DA12-DCF7-BBC01BE50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63056" y="3275937"/>
                  <a:ext cx="1094316" cy="1016040"/>
                </a:xfrm>
                <a:prstGeom prst="straightConnector1">
                  <a:avLst/>
                </a:prstGeom>
                <a:ln w="76200">
                  <a:solidFill>
                    <a:schemeClr val="accent2"/>
                  </a:solidFill>
                  <a:tailEnd type="triangle"/>
                </a:ln>
                <a:effectLst>
                  <a:glow rad="228600">
                    <a:schemeClr val="tx1">
                      <a:lumMod val="95000"/>
                      <a:lumOff val="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87BDA56-7DB1-B6CB-80F6-6FADCF7CDB23}"/>
                    </a:ext>
                  </a:extLst>
                </p:cNvPr>
                <p:cNvSpPr txBox="1"/>
                <p:nvPr/>
              </p:nvSpPr>
              <p:spPr>
                <a:xfrm>
                  <a:off x="6734755" y="2366969"/>
                  <a:ext cx="5311471" cy="37240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b="1" dirty="0">
                      <a:solidFill>
                        <a:srgbClr val="0B5757"/>
                      </a:solidFill>
                    </a:rPr>
                    <a:t>下法兰盘受拉力</a:t>
                  </a:r>
                  <a:endParaRPr lang="en-US" altLang="zh-CN" sz="3600" b="1" dirty="0">
                    <a:solidFill>
                      <a:srgbClr val="0B5757"/>
                    </a:solidFill>
                  </a:endParaRPr>
                </a:p>
                <a:p>
                  <a:endParaRPr lang="en-US" altLang="zh-CN" sz="3600" dirty="0"/>
                </a:p>
                <a:p>
                  <a:r>
                    <a:rPr lang="zh-CN" altLang="en-US" sz="3200" dirty="0"/>
                    <a:t>力由两个红色力合成抵消</a:t>
                  </a:r>
                  <a:endParaRPr lang="en-US" altLang="zh-CN" sz="3200" dirty="0"/>
                </a:p>
                <a:p>
                  <a:endParaRPr lang="en-US" altLang="zh-CN" sz="3200" dirty="0"/>
                </a:p>
                <a:p>
                  <a:r>
                    <a:rPr lang="zh-CN" altLang="en-US" sz="3200" dirty="0"/>
                    <a:t>最终拉力传导到上端面成为两个蓝色的力</a:t>
                  </a:r>
                  <a:endParaRPr lang="en-US" altLang="zh-CN" sz="3200" dirty="0"/>
                </a:p>
                <a:p>
                  <a:endParaRPr lang="zh-CN" altLang="en-US" sz="3600" dirty="0"/>
                </a:p>
              </p:txBody>
            </p:sp>
          </p:grp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A6FC3FD6-00C9-FD60-17EA-3CE36A2E2B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8647" y="4352571"/>
                <a:ext cx="1357353" cy="1062882"/>
              </a:xfrm>
              <a:prstGeom prst="straightConnector1">
                <a:avLst/>
              </a:prstGeom>
              <a:ln w="76200">
                <a:solidFill>
                  <a:srgbClr val="0B5757"/>
                </a:solidFill>
                <a:tailEnd type="triangle"/>
              </a:ln>
              <a:effectLst>
                <a:glow rad="228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B6C88AC3-6A64-CF48-D10A-1DBB5B4D9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59951" y="4352128"/>
                <a:ext cx="1062162" cy="976061"/>
              </a:xfrm>
              <a:prstGeom prst="straightConnector1">
                <a:avLst/>
              </a:prstGeom>
              <a:ln w="76200">
                <a:solidFill>
                  <a:srgbClr val="0B5757"/>
                </a:solidFill>
                <a:tailEnd type="triangle"/>
              </a:ln>
              <a:effectLst>
                <a:glow rad="228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C71368C-B003-A4B5-9793-924BD4FC5823}"/>
                </a:ext>
              </a:extLst>
            </p:cNvPr>
            <p:cNvCxnSpPr>
              <a:cxnSpLocks/>
            </p:cNvCxnSpPr>
            <p:nvPr/>
          </p:nvCxnSpPr>
          <p:spPr>
            <a:xfrm>
              <a:off x="3584381" y="4840158"/>
              <a:ext cx="0" cy="168368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D228EEB-2CC1-B4C0-67D8-A46461381FD8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256458-8890-43F0-E009-E48FC27B6D9C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受载荷受力说明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DC3D10-301E-5461-E70C-93B5D35FF938}"/>
              </a:ext>
            </a:extLst>
          </p:cNvPr>
          <p:cNvSpPr/>
          <p:nvPr/>
        </p:nvSpPr>
        <p:spPr>
          <a:xfrm>
            <a:off x="-147189" y="7189817"/>
            <a:ext cx="3705724" cy="464190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4FC133-FCDC-48F1-5858-E5D76FFC601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7035" y="8847919"/>
            <a:ext cx="2816942" cy="269213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604B441-828D-B8A1-7F3C-0345383687BA}"/>
              </a:ext>
            </a:extLst>
          </p:cNvPr>
          <p:cNvSpPr txBox="1"/>
          <p:nvPr/>
        </p:nvSpPr>
        <p:spPr>
          <a:xfrm>
            <a:off x="696511" y="7897703"/>
            <a:ext cx="201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电磁铁驱动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475688-BD4E-588C-3F8D-A0F67BB49193}"/>
              </a:ext>
            </a:extLst>
          </p:cNvPr>
          <p:cNvSpPr/>
          <p:nvPr/>
        </p:nvSpPr>
        <p:spPr>
          <a:xfrm>
            <a:off x="8259906" y="7189817"/>
            <a:ext cx="3705725" cy="66013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952854-8EC8-91DC-59B2-FC15F5213B7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5186" y="9149238"/>
            <a:ext cx="2927249" cy="3497058"/>
          </a:xfrm>
          <a:prstGeom prst="rect">
            <a:avLst/>
          </a:prstGeom>
          <a:effectLst>
            <a:softEdge rad="215900"/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B18D63F-1773-290C-E134-9E9711DE9930}"/>
              </a:ext>
            </a:extLst>
          </p:cNvPr>
          <p:cNvSpPr txBox="1"/>
          <p:nvPr/>
        </p:nvSpPr>
        <p:spPr>
          <a:xfrm>
            <a:off x="8957897" y="8101606"/>
            <a:ext cx="2481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经过改装也可以使用丝杆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84BE89-AF2B-E5A7-84AE-BBC0A6DC7FD0}"/>
              </a:ext>
            </a:extLst>
          </p:cNvPr>
          <p:cNvSpPr txBox="1"/>
          <p:nvPr/>
        </p:nvSpPr>
        <p:spPr>
          <a:xfrm>
            <a:off x="5242372" y="-5988625"/>
            <a:ext cx="1707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手开启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EB1497B-7F14-B034-C749-28889C308E8A}"/>
              </a:ext>
            </a:extLst>
          </p:cNvPr>
          <p:cNvGrpSpPr/>
          <p:nvPr/>
        </p:nvGrpSpPr>
        <p:grpSpPr>
          <a:xfrm>
            <a:off x="4157372" y="-6912281"/>
            <a:ext cx="4219073" cy="6601328"/>
            <a:chOff x="3986463" y="128336"/>
            <a:chExt cx="4219073" cy="660132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9693450-59EC-084F-97D9-42A6DC67A864}"/>
                </a:ext>
              </a:extLst>
            </p:cNvPr>
            <p:cNvSpPr/>
            <p:nvPr/>
          </p:nvSpPr>
          <p:spPr>
            <a:xfrm>
              <a:off x="3986463" y="128336"/>
              <a:ext cx="4219073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095A353F-3950-F5E9-46A4-AD95F3159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4144" y="2087757"/>
              <a:ext cx="3123711" cy="3904096"/>
            </a:xfrm>
            <a:prstGeom prst="rect">
              <a:avLst/>
            </a:prstGeom>
            <a:effectLst>
              <a:softEdge rad="342900"/>
            </a:effectLst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64F8240-E4E8-048B-BCF4-204CCD5D72A0}"/>
                </a:ext>
              </a:extLst>
            </p:cNvPr>
            <p:cNvSpPr txBox="1"/>
            <p:nvPr/>
          </p:nvSpPr>
          <p:spPr>
            <a:xfrm>
              <a:off x="5242372" y="1255569"/>
              <a:ext cx="1707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手动开启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AB22ADB-3AAF-24D6-17A6-F4E94E5CA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3276" y="3029447"/>
              <a:ext cx="0" cy="1325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8634A24-0F47-F69B-FA48-CD53ECF6E9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970" y="3029447"/>
              <a:ext cx="0" cy="1325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38B1C28-37D0-36F8-2E03-4068B067CDA6}"/>
              </a:ext>
            </a:extLst>
          </p:cNvPr>
          <p:cNvGrpSpPr/>
          <p:nvPr/>
        </p:nvGrpSpPr>
        <p:grpSpPr>
          <a:xfrm>
            <a:off x="-12082568" y="1144059"/>
            <a:ext cx="12045369" cy="5585606"/>
            <a:chOff x="128338" y="1144059"/>
            <a:chExt cx="12045369" cy="558560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403FB56-56EB-897C-A6D0-ACADA08BFF24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F1E42F48-BFC7-53E9-3114-63F8287C7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2DC13BA-8187-222A-AAB2-08D7F8B566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816" y="5316688"/>
              <a:ext cx="169362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0B64867-EF50-AF8F-C702-B3DDB5264C13}"/>
                </a:ext>
              </a:extLst>
            </p:cNvPr>
            <p:cNvCxnSpPr>
              <a:cxnSpLocks/>
            </p:cNvCxnSpPr>
            <p:nvPr/>
          </p:nvCxnSpPr>
          <p:spPr>
            <a:xfrm>
              <a:off x="4367537" y="4735970"/>
              <a:ext cx="1516428" cy="1387369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55271188-5089-8E78-881A-25FA25F9E08C}"/>
                </a:ext>
              </a:extLst>
            </p:cNvPr>
            <p:cNvCxnSpPr>
              <a:cxnSpLocks/>
            </p:cNvCxnSpPr>
            <p:nvPr/>
          </p:nvCxnSpPr>
          <p:spPr>
            <a:xfrm>
              <a:off x="2646624" y="4737250"/>
              <a:ext cx="1537326" cy="1421283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EEEF2B1-C4D2-33E6-3C95-3C8AEF47AC8A}"/>
                </a:ext>
              </a:extLst>
            </p:cNvPr>
            <p:cNvSpPr txBox="1"/>
            <p:nvPr/>
          </p:nvSpPr>
          <p:spPr>
            <a:xfrm>
              <a:off x="6261896" y="2272703"/>
              <a:ext cx="5911811" cy="372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下法兰盘受水平方向力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200" dirty="0"/>
                <a:t>力由</a:t>
              </a:r>
              <a:r>
                <a:rPr lang="en-US" altLang="zh-CN" sz="3200" dirty="0"/>
                <a:t>4</a:t>
              </a:r>
              <a:r>
                <a:rPr lang="zh-CN" altLang="en-US" sz="3200" dirty="0"/>
                <a:t>个红色力合成抵消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最终造成形变大于</a:t>
              </a:r>
              <a:r>
                <a:rPr lang="en-US" altLang="zh-CN" sz="3200" dirty="0"/>
                <a:t>100</a:t>
              </a:r>
              <a:r>
                <a:rPr lang="zh-CN" altLang="en-US" sz="3200" dirty="0"/>
                <a:t>微米时，将由蓝色受力直接抵消</a:t>
              </a:r>
              <a:endParaRPr lang="en-US" altLang="zh-CN" sz="3200" dirty="0"/>
            </a:p>
            <a:p>
              <a:endParaRPr lang="zh-CN" altLang="en-US" sz="3600" dirty="0"/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439E5F11-BE7A-B6E1-55C9-5B4CB03B68E2}"/>
                </a:ext>
              </a:extLst>
            </p:cNvPr>
            <p:cNvCxnSpPr>
              <a:cxnSpLocks/>
            </p:cNvCxnSpPr>
            <p:nvPr/>
          </p:nvCxnSpPr>
          <p:spPr>
            <a:xfrm>
              <a:off x="5059135" y="4735970"/>
              <a:ext cx="965932" cy="0"/>
            </a:xfrm>
            <a:prstGeom prst="straightConnector1">
              <a:avLst/>
            </a:prstGeom>
            <a:ln w="76200">
              <a:solidFill>
                <a:srgbClr val="0B5757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18A1451F-9DF8-0EC0-17A6-ED6BFFB9C8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8209" y="3285173"/>
              <a:ext cx="991180" cy="1028391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73CC8D3-918E-05A3-08A9-E584FC39D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796" y="3285173"/>
              <a:ext cx="989683" cy="100748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0376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99E95-28E7-904D-54F9-68B8E68D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B5A85-542D-C272-4D5F-39960DDEF0ED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060131-C491-DF29-CBF2-978F5625139D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受载荷受力说明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118AB5C-3357-6DA0-8D89-F69BD10079CB}"/>
              </a:ext>
            </a:extLst>
          </p:cNvPr>
          <p:cNvGrpSpPr/>
          <p:nvPr/>
        </p:nvGrpSpPr>
        <p:grpSpPr>
          <a:xfrm>
            <a:off x="128338" y="1144059"/>
            <a:ext cx="12045369" cy="5585606"/>
            <a:chOff x="128338" y="1144059"/>
            <a:chExt cx="12045369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CE68B31-0E14-DC84-AF0C-83BA7A69ED98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B4C8650-3AB0-4A07-C4E5-7B9433899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D84DF51C-681E-9B61-3FA5-6D29F8B19A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816" y="5316688"/>
              <a:ext cx="169362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1B5DF56-A277-478A-314A-5F4E4F12456F}"/>
                </a:ext>
              </a:extLst>
            </p:cNvPr>
            <p:cNvCxnSpPr>
              <a:cxnSpLocks/>
            </p:cNvCxnSpPr>
            <p:nvPr/>
          </p:nvCxnSpPr>
          <p:spPr>
            <a:xfrm>
              <a:off x="4367537" y="4735970"/>
              <a:ext cx="1516428" cy="1387369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E9FFA86-AC96-9360-292A-FDA3B6DC1CB7}"/>
                </a:ext>
              </a:extLst>
            </p:cNvPr>
            <p:cNvCxnSpPr>
              <a:cxnSpLocks/>
            </p:cNvCxnSpPr>
            <p:nvPr/>
          </p:nvCxnSpPr>
          <p:spPr>
            <a:xfrm>
              <a:off x="2646624" y="4737250"/>
              <a:ext cx="1537326" cy="1421283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68F2F15-9B53-C037-A37F-09D7DD17F9C5}"/>
                </a:ext>
              </a:extLst>
            </p:cNvPr>
            <p:cNvSpPr txBox="1"/>
            <p:nvPr/>
          </p:nvSpPr>
          <p:spPr>
            <a:xfrm>
              <a:off x="6261896" y="2272703"/>
              <a:ext cx="5911811" cy="372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下法兰盘受水平方向力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200" dirty="0"/>
                <a:t>力由</a:t>
              </a:r>
              <a:r>
                <a:rPr lang="en-US" altLang="zh-CN" sz="3200" dirty="0"/>
                <a:t>4</a:t>
              </a:r>
              <a:r>
                <a:rPr lang="zh-CN" altLang="en-US" sz="3200" dirty="0"/>
                <a:t>个红色力合成抵消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最终造成形变大于</a:t>
              </a:r>
              <a:r>
                <a:rPr lang="en-US" altLang="zh-CN" sz="3200" dirty="0"/>
                <a:t>100</a:t>
              </a:r>
              <a:r>
                <a:rPr lang="zh-CN" altLang="en-US" sz="3200" dirty="0"/>
                <a:t>微米时，将由蓝色受力直接抵消</a:t>
              </a:r>
              <a:endParaRPr lang="en-US" altLang="zh-CN" sz="3200" dirty="0"/>
            </a:p>
            <a:p>
              <a:endParaRPr lang="zh-CN" altLang="en-US" sz="36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640D395-4325-BD6D-A01A-3A4AAB84D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59135" y="4735970"/>
              <a:ext cx="965932" cy="0"/>
            </a:xfrm>
            <a:prstGeom prst="straightConnector1">
              <a:avLst/>
            </a:prstGeom>
            <a:ln w="76200">
              <a:solidFill>
                <a:srgbClr val="0B5757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2212506-A266-2064-A7B6-4FC318207A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8209" y="3285173"/>
              <a:ext cx="991180" cy="1028391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19098BF-2497-CE1A-CF2B-CF721E489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796" y="3285173"/>
              <a:ext cx="989683" cy="100748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55E73F9-E84D-5646-0A2C-F3F9CFCE4DC9}"/>
              </a:ext>
            </a:extLst>
          </p:cNvPr>
          <p:cNvGrpSpPr/>
          <p:nvPr/>
        </p:nvGrpSpPr>
        <p:grpSpPr>
          <a:xfrm>
            <a:off x="12377300" y="1144059"/>
            <a:ext cx="11917888" cy="5585606"/>
            <a:chOff x="128338" y="1144059"/>
            <a:chExt cx="11917888" cy="558560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06D5ACB-4130-1D6D-9874-92AB46BD947E}"/>
                </a:ext>
              </a:extLst>
            </p:cNvPr>
            <p:cNvGrpSpPr/>
            <p:nvPr/>
          </p:nvGrpSpPr>
          <p:grpSpPr>
            <a:xfrm>
              <a:off x="128338" y="1144059"/>
              <a:ext cx="11917888" cy="5585606"/>
              <a:chOff x="128338" y="1144059"/>
              <a:chExt cx="11917888" cy="5585606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A6BA3EFB-298B-7251-5CA3-159061D67702}"/>
                  </a:ext>
                </a:extLst>
              </p:cNvPr>
              <p:cNvGrpSpPr/>
              <p:nvPr/>
            </p:nvGrpSpPr>
            <p:grpSpPr>
              <a:xfrm>
                <a:off x="128338" y="1144059"/>
                <a:ext cx="11917888" cy="5585606"/>
                <a:chOff x="128338" y="1144059"/>
                <a:chExt cx="11917888" cy="5585606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F85C5863-B9E6-1AFF-C2F0-CBAAB52DF633}"/>
                    </a:ext>
                  </a:extLst>
                </p:cNvPr>
                <p:cNvSpPr/>
                <p:nvPr/>
              </p:nvSpPr>
              <p:spPr>
                <a:xfrm>
                  <a:off x="128338" y="1144059"/>
                  <a:ext cx="11917888" cy="5585606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2">
                        <a:lumMod val="9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6" name="图片 15">
                  <a:extLst>
                    <a:ext uri="{FF2B5EF4-FFF2-40B4-BE49-F238E27FC236}">
                      <a16:creationId xmlns:a16="http://schemas.microsoft.com/office/drawing/2014/main" id="{74594477-70A1-7FF7-BD03-FC059B9558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05507" y="1442547"/>
                  <a:ext cx="5252080" cy="4955078"/>
                </a:xfrm>
                <a:prstGeom prst="rect">
                  <a:avLst/>
                </a:prstGeom>
                <a:effectLst>
                  <a:softEdge rad="266700"/>
                </a:effectLst>
              </p:spPr>
            </p:pic>
            <p:cxnSp>
              <p:nvCxnSpPr>
                <p:cNvPr id="17" name="直接箭头连接符 16">
                  <a:extLst>
                    <a:ext uri="{FF2B5EF4-FFF2-40B4-BE49-F238E27FC236}">
                      <a16:creationId xmlns:a16="http://schemas.microsoft.com/office/drawing/2014/main" id="{C768D8DF-2F2B-ED63-B4BE-22EA58A6F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01469" y="3275937"/>
                  <a:ext cx="1055903" cy="1016040"/>
                </a:xfrm>
                <a:prstGeom prst="straightConnector1">
                  <a:avLst/>
                </a:prstGeom>
                <a:ln w="76200">
                  <a:solidFill>
                    <a:schemeClr val="accent2"/>
                  </a:solidFill>
                  <a:tailEnd type="triangle"/>
                </a:ln>
                <a:effectLst>
                  <a:glow rad="228600">
                    <a:schemeClr val="tx1">
                      <a:lumMod val="95000"/>
                      <a:lumOff val="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>
                  <a:extLst>
                    <a:ext uri="{FF2B5EF4-FFF2-40B4-BE49-F238E27FC236}">
                      <a16:creationId xmlns:a16="http://schemas.microsoft.com/office/drawing/2014/main" id="{7EA3FA76-7938-C642-EAD4-461E2DADD4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63056" y="3275937"/>
                  <a:ext cx="1094316" cy="1016040"/>
                </a:xfrm>
                <a:prstGeom prst="straightConnector1">
                  <a:avLst/>
                </a:prstGeom>
                <a:ln w="76200">
                  <a:solidFill>
                    <a:schemeClr val="accent2"/>
                  </a:solidFill>
                  <a:tailEnd type="triangle"/>
                </a:ln>
                <a:effectLst>
                  <a:glow rad="228600">
                    <a:schemeClr val="tx1">
                      <a:lumMod val="95000"/>
                      <a:lumOff val="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C5EF117-EA0B-EDAC-499F-15F2B0EAAE86}"/>
                    </a:ext>
                  </a:extLst>
                </p:cNvPr>
                <p:cNvSpPr txBox="1"/>
                <p:nvPr/>
              </p:nvSpPr>
              <p:spPr>
                <a:xfrm>
                  <a:off x="6734755" y="2366969"/>
                  <a:ext cx="5311471" cy="37240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b="1" dirty="0">
                      <a:solidFill>
                        <a:srgbClr val="0B5757"/>
                      </a:solidFill>
                    </a:rPr>
                    <a:t>下法兰盘受拉力</a:t>
                  </a:r>
                  <a:endParaRPr lang="en-US" altLang="zh-CN" sz="3600" b="1" dirty="0">
                    <a:solidFill>
                      <a:srgbClr val="0B5757"/>
                    </a:solidFill>
                  </a:endParaRPr>
                </a:p>
                <a:p>
                  <a:endParaRPr lang="en-US" altLang="zh-CN" sz="3600" dirty="0"/>
                </a:p>
                <a:p>
                  <a:r>
                    <a:rPr lang="zh-CN" altLang="en-US" sz="3200" dirty="0"/>
                    <a:t>力由两个红色力合成抵消</a:t>
                  </a:r>
                  <a:endParaRPr lang="en-US" altLang="zh-CN" sz="3200" dirty="0"/>
                </a:p>
                <a:p>
                  <a:endParaRPr lang="en-US" altLang="zh-CN" sz="3200" dirty="0"/>
                </a:p>
                <a:p>
                  <a:r>
                    <a:rPr lang="zh-CN" altLang="en-US" sz="3200" dirty="0"/>
                    <a:t>最终拉力传导到上端面成为两个蓝色的力</a:t>
                  </a:r>
                  <a:endParaRPr lang="en-US" altLang="zh-CN" sz="3200" dirty="0"/>
                </a:p>
                <a:p>
                  <a:endParaRPr lang="zh-CN" altLang="en-US" sz="3600" dirty="0"/>
                </a:p>
              </p:txBody>
            </p:sp>
          </p:grp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FD68C4F2-4B85-D7E3-1D6A-6A918DB565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8647" y="4352571"/>
                <a:ext cx="1357353" cy="1062882"/>
              </a:xfrm>
              <a:prstGeom prst="straightConnector1">
                <a:avLst/>
              </a:prstGeom>
              <a:ln w="76200">
                <a:solidFill>
                  <a:srgbClr val="0B5757"/>
                </a:solidFill>
                <a:tailEnd type="triangle"/>
              </a:ln>
              <a:effectLst>
                <a:glow rad="228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DF316C82-27A0-39D8-9D51-ABB80481A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59951" y="4352128"/>
                <a:ext cx="1062162" cy="976061"/>
              </a:xfrm>
              <a:prstGeom prst="straightConnector1">
                <a:avLst/>
              </a:prstGeom>
              <a:ln w="76200">
                <a:solidFill>
                  <a:srgbClr val="0B5757"/>
                </a:solidFill>
                <a:tailEnd type="triangle"/>
              </a:ln>
              <a:effectLst>
                <a:glow rad="228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6895358-C988-5AC1-801B-323348F9E3EF}"/>
                </a:ext>
              </a:extLst>
            </p:cNvPr>
            <p:cNvCxnSpPr>
              <a:cxnSpLocks/>
            </p:cNvCxnSpPr>
            <p:nvPr/>
          </p:nvCxnSpPr>
          <p:spPr>
            <a:xfrm>
              <a:off x="3584381" y="4840158"/>
              <a:ext cx="0" cy="168368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13057A4-6AB3-E071-9600-C824CB55C4A6}"/>
              </a:ext>
            </a:extLst>
          </p:cNvPr>
          <p:cNvGrpSpPr/>
          <p:nvPr/>
        </p:nvGrpSpPr>
        <p:grpSpPr>
          <a:xfrm>
            <a:off x="-12243005" y="1127283"/>
            <a:ext cx="12063662" cy="5585606"/>
            <a:chOff x="128338" y="1144059"/>
            <a:chExt cx="12063662" cy="558560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0E82C90-0396-A959-9115-DD2132342704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9F498D2F-D5C6-2D85-BC4E-965E9A667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DFC6C08-B633-6944-3F0C-F621DDB8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6178" y="4069427"/>
              <a:ext cx="0" cy="133308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55B334C-535F-5D23-9D10-80DBD0914977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75" y="4814632"/>
              <a:ext cx="0" cy="1369908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8332657-3FBE-0909-274F-CBED48F969C3}"/>
                </a:ext>
              </a:extLst>
            </p:cNvPr>
            <p:cNvCxnSpPr>
              <a:cxnSpLocks/>
            </p:cNvCxnSpPr>
            <p:nvPr/>
          </p:nvCxnSpPr>
          <p:spPr>
            <a:xfrm>
              <a:off x="2408085" y="4807021"/>
              <a:ext cx="0" cy="1377519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5A29E4A-8734-078E-1631-E82878733326}"/>
                </a:ext>
              </a:extLst>
            </p:cNvPr>
            <p:cNvSpPr txBox="1"/>
            <p:nvPr/>
          </p:nvSpPr>
          <p:spPr>
            <a:xfrm>
              <a:off x="6280189" y="2684457"/>
              <a:ext cx="591181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下法兰盘受推力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受力直接由上接触面平衡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9990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DA0B9-DE80-3B53-24A7-C4315F7D3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07DBE-6040-3DF2-1B91-B562D76CEADD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869DE5B-1DED-2DDC-B865-51B98EB37DCC}"/>
              </a:ext>
            </a:extLst>
          </p:cNvPr>
          <p:cNvGrpSpPr/>
          <p:nvPr/>
        </p:nvGrpSpPr>
        <p:grpSpPr>
          <a:xfrm>
            <a:off x="128338" y="1144059"/>
            <a:ext cx="12063662" cy="5585606"/>
            <a:chOff x="128338" y="1144059"/>
            <a:chExt cx="12063662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8E6C14D-9C80-AA95-A679-826F93FE5E21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B28F27AA-C23C-0141-0A78-EA2AF7E8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6D9E699-419A-8A23-2A74-64532C8B92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6178" y="4069427"/>
              <a:ext cx="0" cy="133308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9BC9C832-5DFA-EB21-80C6-100233DBD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75" y="4814632"/>
              <a:ext cx="0" cy="1369908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EEBF73B-B9B7-DB0B-7A64-F3585E9C1963}"/>
                </a:ext>
              </a:extLst>
            </p:cNvPr>
            <p:cNvCxnSpPr>
              <a:cxnSpLocks/>
            </p:cNvCxnSpPr>
            <p:nvPr/>
          </p:nvCxnSpPr>
          <p:spPr>
            <a:xfrm>
              <a:off x="2408085" y="4807021"/>
              <a:ext cx="0" cy="1377519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1F7C3D7-1012-1990-31CE-13A551B120F4}"/>
                </a:ext>
              </a:extLst>
            </p:cNvPr>
            <p:cNvSpPr txBox="1"/>
            <p:nvPr/>
          </p:nvSpPr>
          <p:spPr>
            <a:xfrm>
              <a:off x="6280189" y="2684457"/>
              <a:ext cx="591181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下法兰盘受推力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受力直接由上接触面平衡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6516A0C-627D-8F45-D237-632D80E303AA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受载荷受力说明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1DE851B-4FAB-8A7D-834E-9237481705AF}"/>
              </a:ext>
            </a:extLst>
          </p:cNvPr>
          <p:cNvGrpSpPr/>
          <p:nvPr/>
        </p:nvGrpSpPr>
        <p:grpSpPr>
          <a:xfrm>
            <a:off x="12414602" y="1144059"/>
            <a:ext cx="12045369" cy="5585606"/>
            <a:chOff x="128338" y="1144059"/>
            <a:chExt cx="12045369" cy="558560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FD23CD3-6C58-C757-FAB4-A465E8A2070A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6D775BB-E0FC-AB37-39BB-004498376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CE4AF66-3AC6-654A-710E-DDFD7F499B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816" y="5316688"/>
              <a:ext cx="169362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F826A5C-1099-7929-C7FF-F5E5F5E3EF46}"/>
                </a:ext>
              </a:extLst>
            </p:cNvPr>
            <p:cNvCxnSpPr>
              <a:cxnSpLocks/>
            </p:cNvCxnSpPr>
            <p:nvPr/>
          </p:nvCxnSpPr>
          <p:spPr>
            <a:xfrm>
              <a:off x="4367537" y="4735970"/>
              <a:ext cx="1516428" cy="1387369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BE67B5B-3E04-AA8C-E18F-245C76E2C8B1}"/>
                </a:ext>
              </a:extLst>
            </p:cNvPr>
            <p:cNvCxnSpPr>
              <a:cxnSpLocks/>
            </p:cNvCxnSpPr>
            <p:nvPr/>
          </p:nvCxnSpPr>
          <p:spPr>
            <a:xfrm>
              <a:off x="2646624" y="4737250"/>
              <a:ext cx="1537326" cy="1421283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903EB8E-E291-D323-9C08-D0342467FFE3}"/>
                </a:ext>
              </a:extLst>
            </p:cNvPr>
            <p:cNvSpPr txBox="1"/>
            <p:nvPr/>
          </p:nvSpPr>
          <p:spPr>
            <a:xfrm>
              <a:off x="6261896" y="2272703"/>
              <a:ext cx="5911811" cy="372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下法兰盘受水平方向力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200" dirty="0"/>
                <a:t>力由</a:t>
              </a:r>
              <a:r>
                <a:rPr lang="en-US" altLang="zh-CN" sz="3200" dirty="0"/>
                <a:t>4</a:t>
              </a:r>
              <a:r>
                <a:rPr lang="zh-CN" altLang="en-US" sz="3200" dirty="0"/>
                <a:t>个红色力合成抵消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最终造成形变大于</a:t>
              </a:r>
              <a:r>
                <a:rPr lang="en-US" altLang="zh-CN" sz="3200" dirty="0"/>
                <a:t>100</a:t>
              </a:r>
              <a:r>
                <a:rPr lang="zh-CN" altLang="en-US" sz="3200" dirty="0"/>
                <a:t>微米时，将由蓝色受力直接抵消</a:t>
              </a:r>
              <a:endParaRPr lang="en-US" altLang="zh-CN" sz="3200" dirty="0"/>
            </a:p>
            <a:p>
              <a:endParaRPr lang="zh-CN" altLang="en-US" sz="3600" dirty="0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E371345-9920-0629-4495-5D0EA2BACA97}"/>
                </a:ext>
              </a:extLst>
            </p:cNvPr>
            <p:cNvCxnSpPr>
              <a:cxnSpLocks/>
            </p:cNvCxnSpPr>
            <p:nvPr/>
          </p:nvCxnSpPr>
          <p:spPr>
            <a:xfrm>
              <a:off x="5059135" y="4735970"/>
              <a:ext cx="965932" cy="0"/>
            </a:xfrm>
            <a:prstGeom prst="straightConnector1">
              <a:avLst/>
            </a:prstGeom>
            <a:ln w="76200">
              <a:solidFill>
                <a:srgbClr val="0B5757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9F3BC87-A3AD-971F-4C10-5E928730F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8209" y="3285173"/>
              <a:ext cx="991180" cy="1028391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22A5ABA-BF1D-8A39-6925-B105BD5E1F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796" y="3285173"/>
              <a:ext cx="989683" cy="100748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F2AACE1-7A20-9DDD-6781-5C100D63FEE8}"/>
              </a:ext>
            </a:extLst>
          </p:cNvPr>
          <p:cNvGrpSpPr/>
          <p:nvPr/>
        </p:nvGrpSpPr>
        <p:grpSpPr>
          <a:xfrm>
            <a:off x="-12161103" y="1144059"/>
            <a:ext cx="12063662" cy="5585606"/>
            <a:chOff x="128338" y="1144059"/>
            <a:chExt cx="12063662" cy="558560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FBA755D-3A63-71E0-4F3B-E0140B80C392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A664C0C-D6F7-7E70-F28C-B60F15E26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3FFAEFE2-A6F0-A8D0-EF7A-46ACEE166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4801" y="4321013"/>
              <a:ext cx="0" cy="106559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8AD724E5-D5CD-89F8-913B-BFE021DE54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0765" y="3220278"/>
              <a:ext cx="976495" cy="110073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849DA61-AF06-279C-4CA9-4C078CEB0DE3}"/>
                </a:ext>
              </a:extLst>
            </p:cNvPr>
            <p:cNvCxnSpPr>
              <a:cxnSpLocks/>
            </p:cNvCxnSpPr>
            <p:nvPr/>
          </p:nvCxnSpPr>
          <p:spPr>
            <a:xfrm>
              <a:off x="2408085" y="4807021"/>
              <a:ext cx="0" cy="1590604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D980FDA-2277-5B6D-7A20-772D9E5C6D74}"/>
                </a:ext>
              </a:extLst>
            </p:cNvPr>
            <p:cNvSpPr txBox="1"/>
            <p:nvPr/>
          </p:nvSpPr>
          <p:spPr>
            <a:xfrm>
              <a:off x="6280189" y="2851434"/>
              <a:ext cx="591181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下法兰盘受力矩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受力直接由</a:t>
              </a:r>
              <a:r>
                <a:rPr lang="en-US" altLang="zh-CN" sz="3600" dirty="0"/>
                <a:t>3</a:t>
              </a:r>
              <a:r>
                <a:rPr lang="zh-CN" altLang="en-US" sz="3600" dirty="0"/>
                <a:t>个红色力平衡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40BA503-D3AB-9E1E-EAD6-4B276B821508}"/>
                </a:ext>
              </a:extLst>
            </p:cNvPr>
            <p:cNvCxnSpPr>
              <a:cxnSpLocks/>
            </p:cNvCxnSpPr>
            <p:nvPr/>
          </p:nvCxnSpPr>
          <p:spPr>
            <a:xfrm>
              <a:off x="4677320" y="5236222"/>
              <a:ext cx="0" cy="116140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7AB7E82-5D32-750E-2BF3-93E047B44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0765" y="3220278"/>
              <a:ext cx="976495" cy="110073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0559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87C99-4A95-76BF-C679-84789C47B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ADDA3-9F3D-DA8E-5C37-E2578E4325D8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01272B0-DCDE-4994-E7DA-B394FE92DDEC}"/>
              </a:ext>
            </a:extLst>
          </p:cNvPr>
          <p:cNvGrpSpPr/>
          <p:nvPr/>
        </p:nvGrpSpPr>
        <p:grpSpPr>
          <a:xfrm>
            <a:off x="128338" y="1144059"/>
            <a:ext cx="12063662" cy="5585606"/>
            <a:chOff x="128338" y="1144059"/>
            <a:chExt cx="12063662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858756-382E-6032-4AAF-27DF9F6556FE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9084DD4-38C0-B117-E344-4C4FC9671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B56E098-5D65-2375-8F22-82FA11DEA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4801" y="4321013"/>
              <a:ext cx="0" cy="106559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87F19F4-3B2E-6CCA-E7C0-039C55FEE6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0765" y="3220278"/>
              <a:ext cx="976495" cy="110073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28DF3FD-8EDF-FA32-CB2D-77C222863863}"/>
                </a:ext>
              </a:extLst>
            </p:cNvPr>
            <p:cNvCxnSpPr>
              <a:cxnSpLocks/>
            </p:cNvCxnSpPr>
            <p:nvPr/>
          </p:nvCxnSpPr>
          <p:spPr>
            <a:xfrm>
              <a:off x="2408085" y="4807021"/>
              <a:ext cx="0" cy="1590604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1E0E22A-1A50-9018-CEB7-25566784DE80}"/>
                </a:ext>
              </a:extLst>
            </p:cNvPr>
            <p:cNvSpPr txBox="1"/>
            <p:nvPr/>
          </p:nvSpPr>
          <p:spPr>
            <a:xfrm>
              <a:off x="6280189" y="2851434"/>
              <a:ext cx="591181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下法兰盘受力矩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受力直接由</a:t>
              </a:r>
              <a:r>
                <a:rPr lang="en-US" altLang="zh-CN" sz="3600" dirty="0"/>
                <a:t>3</a:t>
              </a:r>
              <a:r>
                <a:rPr lang="zh-CN" altLang="en-US" sz="3600" dirty="0"/>
                <a:t>个红色力平衡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9A98E44-9AF8-6237-0E8D-F7E110A73EFF}"/>
                </a:ext>
              </a:extLst>
            </p:cNvPr>
            <p:cNvCxnSpPr>
              <a:cxnSpLocks/>
            </p:cNvCxnSpPr>
            <p:nvPr/>
          </p:nvCxnSpPr>
          <p:spPr>
            <a:xfrm>
              <a:off x="4677320" y="5236222"/>
              <a:ext cx="0" cy="116140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6085B47-C805-8A1E-A8B5-0ECD25CF7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0765" y="3220278"/>
              <a:ext cx="976495" cy="110073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ABC6611-CAC5-7B8A-84F7-AE3C39F4CB8C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受载荷受力说明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A6F134B-4EB5-1935-7A63-0CA28E561F75}"/>
              </a:ext>
            </a:extLst>
          </p:cNvPr>
          <p:cNvGrpSpPr/>
          <p:nvPr/>
        </p:nvGrpSpPr>
        <p:grpSpPr>
          <a:xfrm>
            <a:off x="12334689" y="1157880"/>
            <a:ext cx="12063662" cy="5585606"/>
            <a:chOff x="128338" y="1144059"/>
            <a:chExt cx="12063662" cy="5585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3E59035-D603-B817-D95E-3F2EC0D3F6A9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3543FC1-25B6-2573-4197-5202D0A55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DC725C1-ACE5-5641-0CC2-D7E57FD3F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6178" y="4069427"/>
              <a:ext cx="0" cy="133308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7A627F9-2DC6-53B0-E99B-A2DEA3B7F96E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75" y="4814632"/>
              <a:ext cx="0" cy="1369908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D0FAF8E1-23C1-AFC1-76A2-0C62BB53EC14}"/>
                </a:ext>
              </a:extLst>
            </p:cNvPr>
            <p:cNvCxnSpPr>
              <a:cxnSpLocks/>
            </p:cNvCxnSpPr>
            <p:nvPr/>
          </p:nvCxnSpPr>
          <p:spPr>
            <a:xfrm>
              <a:off x="2408085" y="4807021"/>
              <a:ext cx="0" cy="1377519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C03E76D-87A6-7948-B85F-5080C34AD4DE}"/>
                </a:ext>
              </a:extLst>
            </p:cNvPr>
            <p:cNvSpPr txBox="1"/>
            <p:nvPr/>
          </p:nvSpPr>
          <p:spPr>
            <a:xfrm>
              <a:off x="6280189" y="2684457"/>
              <a:ext cx="591181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下法兰盘受推力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受力直接由上接触面平衡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8DD6150-E76F-CD1D-6E33-45E53DA8D18B}"/>
              </a:ext>
            </a:extLst>
          </p:cNvPr>
          <p:cNvGrpSpPr/>
          <p:nvPr/>
        </p:nvGrpSpPr>
        <p:grpSpPr>
          <a:xfrm>
            <a:off x="-12225689" y="1157880"/>
            <a:ext cx="11917888" cy="5585606"/>
            <a:chOff x="128338" y="1144059"/>
            <a:chExt cx="11917888" cy="558560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37CCE54-2C51-EA64-7655-2B0755DC0E62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29699DB-58AF-9A74-5347-37928504F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CFD582F-31F3-A7BE-AB11-B02B0E914A84}"/>
                </a:ext>
              </a:extLst>
            </p:cNvPr>
            <p:cNvSpPr txBox="1"/>
            <p:nvPr/>
          </p:nvSpPr>
          <p:spPr>
            <a:xfrm>
              <a:off x="6120915" y="2633326"/>
              <a:ext cx="591181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下法兰盘受水平力矩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受力先由销钉平衡</a:t>
              </a:r>
              <a:endParaRPr lang="en-US" altLang="zh-CN" sz="3600" dirty="0"/>
            </a:p>
            <a:p>
              <a:r>
                <a:rPr lang="zh-CN" altLang="en-US" sz="3600" dirty="0"/>
                <a:t>形变超过</a:t>
              </a:r>
              <a:r>
                <a:rPr lang="en-US" altLang="zh-CN" sz="3600" dirty="0"/>
                <a:t>100</a:t>
              </a:r>
              <a:r>
                <a:rPr lang="zh-CN" altLang="en-US" sz="3600" dirty="0"/>
                <a:t>微米以后由上下端面接触面平衡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  <p:sp>
          <p:nvSpPr>
            <p:cNvPr id="25" name="十字形 24">
              <a:extLst>
                <a:ext uri="{FF2B5EF4-FFF2-40B4-BE49-F238E27FC236}">
                  <a16:creationId xmlns:a16="http://schemas.microsoft.com/office/drawing/2014/main" id="{0A777452-5454-714C-F506-6CC97F18BB1E}"/>
                </a:ext>
              </a:extLst>
            </p:cNvPr>
            <p:cNvSpPr/>
            <p:nvPr/>
          </p:nvSpPr>
          <p:spPr>
            <a:xfrm rot="2634285">
              <a:off x="2086057" y="5101376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流程图: 接点 25">
              <a:extLst>
                <a:ext uri="{FF2B5EF4-FFF2-40B4-BE49-F238E27FC236}">
                  <a16:creationId xmlns:a16="http://schemas.microsoft.com/office/drawing/2014/main" id="{9FC76387-1320-A44C-22C9-5BE8943ABB4B}"/>
                </a:ext>
              </a:extLst>
            </p:cNvPr>
            <p:cNvSpPr/>
            <p:nvPr/>
          </p:nvSpPr>
          <p:spPr>
            <a:xfrm>
              <a:off x="4700546" y="5248155"/>
              <a:ext cx="318047" cy="334593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十字形 26">
              <a:extLst>
                <a:ext uri="{FF2B5EF4-FFF2-40B4-BE49-F238E27FC236}">
                  <a16:creationId xmlns:a16="http://schemas.microsoft.com/office/drawing/2014/main" id="{621940D9-F6A7-2095-70AD-56BE4078FB78}"/>
                </a:ext>
              </a:extLst>
            </p:cNvPr>
            <p:cNvSpPr/>
            <p:nvPr/>
          </p:nvSpPr>
          <p:spPr>
            <a:xfrm rot="2634285">
              <a:off x="4155915" y="4460278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流程图: 接点 27">
              <a:extLst>
                <a:ext uri="{FF2B5EF4-FFF2-40B4-BE49-F238E27FC236}">
                  <a16:creationId xmlns:a16="http://schemas.microsoft.com/office/drawing/2014/main" id="{870EADD2-B61E-B442-2EFE-76EB10F219FB}"/>
                </a:ext>
              </a:extLst>
            </p:cNvPr>
            <p:cNvSpPr/>
            <p:nvPr/>
          </p:nvSpPr>
          <p:spPr>
            <a:xfrm>
              <a:off x="2580252" y="4607057"/>
              <a:ext cx="318047" cy="334593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流程图: 接点 28">
              <a:extLst>
                <a:ext uri="{FF2B5EF4-FFF2-40B4-BE49-F238E27FC236}">
                  <a16:creationId xmlns:a16="http://schemas.microsoft.com/office/drawing/2014/main" id="{E9502A04-967C-1490-CAFC-90BBFB80EFB6}"/>
                </a:ext>
              </a:extLst>
            </p:cNvPr>
            <p:cNvSpPr/>
            <p:nvPr/>
          </p:nvSpPr>
          <p:spPr>
            <a:xfrm>
              <a:off x="2098768" y="4607056"/>
              <a:ext cx="318047" cy="334593"/>
            </a:xfrm>
            <a:prstGeom prst="flowChartConnector">
              <a:avLst/>
            </a:prstGeom>
            <a:solidFill>
              <a:srgbClr val="0B57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十字形 29">
              <a:extLst>
                <a:ext uri="{FF2B5EF4-FFF2-40B4-BE49-F238E27FC236}">
                  <a16:creationId xmlns:a16="http://schemas.microsoft.com/office/drawing/2014/main" id="{90FB27B3-68F8-46A1-4549-750FE0C197E7}"/>
                </a:ext>
              </a:extLst>
            </p:cNvPr>
            <p:cNvSpPr/>
            <p:nvPr/>
          </p:nvSpPr>
          <p:spPr>
            <a:xfrm rot="2634285">
              <a:off x="4720828" y="4460276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rgbClr val="0B57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7250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A0D0C-5370-CDA0-310C-11ECDA2D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49579-598A-5B25-20F1-D07A3E310800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D74A4C5-2B08-FBF6-25ED-10725B3992E4}"/>
              </a:ext>
            </a:extLst>
          </p:cNvPr>
          <p:cNvGrpSpPr/>
          <p:nvPr/>
        </p:nvGrpSpPr>
        <p:grpSpPr>
          <a:xfrm>
            <a:off x="128338" y="1144059"/>
            <a:ext cx="11917888" cy="5585606"/>
            <a:chOff x="128338" y="1144059"/>
            <a:chExt cx="11917888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9B49E80-3EEB-589B-5098-92AD2972CF73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DE0FDA6B-AD80-28E9-185C-C3E2940D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1124D8A-5CFB-EE7B-522A-92BCA4D6DF59}"/>
                </a:ext>
              </a:extLst>
            </p:cNvPr>
            <p:cNvSpPr txBox="1"/>
            <p:nvPr/>
          </p:nvSpPr>
          <p:spPr>
            <a:xfrm>
              <a:off x="6120915" y="2633326"/>
              <a:ext cx="591181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下法兰盘受水平力矩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受力先由销钉平衡</a:t>
              </a:r>
              <a:endParaRPr lang="en-US" altLang="zh-CN" sz="3600" dirty="0"/>
            </a:p>
            <a:p>
              <a:r>
                <a:rPr lang="zh-CN" altLang="en-US" sz="3600" dirty="0"/>
                <a:t>形变超过</a:t>
              </a:r>
              <a:r>
                <a:rPr lang="en-US" altLang="zh-CN" sz="3600" dirty="0"/>
                <a:t>100</a:t>
              </a:r>
              <a:r>
                <a:rPr lang="zh-CN" altLang="en-US" sz="3600" dirty="0"/>
                <a:t>微米以后由上下端面接触面平衡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  <p:sp>
          <p:nvSpPr>
            <p:cNvPr id="8" name="十字形 7">
              <a:extLst>
                <a:ext uri="{FF2B5EF4-FFF2-40B4-BE49-F238E27FC236}">
                  <a16:creationId xmlns:a16="http://schemas.microsoft.com/office/drawing/2014/main" id="{550215EA-60CE-6F11-7657-BF1A1499DDEE}"/>
                </a:ext>
              </a:extLst>
            </p:cNvPr>
            <p:cNvSpPr/>
            <p:nvPr/>
          </p:nvSpPr>
          <p:spPr>
            <a:xfrm rot="2634285">
              <a:off x="2086057" y="5101376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流程图: 接点 9">
              <a:extLst>
                <a:ext uri="{FF2B5EF4-FFF2-40B4-BE49-F238E27FC236}">
                  <a16:creationId xmlns:a16="http://schemas.microsoft.com/office/drawing/2014/main" id="{C246CC10-ECC0-F5E6-947B-30EE564DC575}"/>
                </a:ext>
              </a:extLst>
            </p:cNvPr>
            <p:cNvSpPr/>
            <p:nvPr/>
          </p:nvSpPr>
          <p:spPr>
            <a:xfrm>
              <a:off x="4700546" y="5248155"/>
              <a:ext cx="318047" cy="334593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十字形 10">
              <a:extLst>
                <a:ext uri="{FF2B5EF4-FFF2-40B4-BE49-F238E27FC236}">
                  <a16:creationId xmlns:a16="http://schemas.microsoft.com/office/drawing/2014/main" id="{D3EB9E6D-A32F-52E5-6BF3-E8356B1E855F}"/>
                </a:ext>
              </a:extLst>
            </p:cNvPr>
            <p:cNvSpPr/>
            <p:nvPr/>
          </p:nvSpPr>
          <p:spPr>
            <a:xfrm rot="2634285">
              <a:off x="4155915" y="4460278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接点 12">
              <a:extLst>
                <a:ext uri="{FF2B5EF4-FFF2-40B4-BE49-F238E27FC236}">
                  <a16:creationId xmlns:a16="http://schemas.microsoft.com/office/drawing/2014/main" id="{FA62FD7F-37B5-802D-C473-4160D1C86C71}"/>
                </a:ext>
              </a:extLst>
            </p:cNvPr>
            <p:cNvSpPr/>
            <p:nvPr/>
          </p:nvSpPr>
          <p:spPr>
            <a:xfrm>
              <a:off x="2580252" y="4607057"/>
              <a:ext cx="318047" cy="334593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流程图: 接点 15">
              <a:extLst>
                <a:ext uri="{FF2B5EF4-FFF2-40B4-BE49-F238E27FC236}">
                  <a16:creationId xmlns:a16="http://schemas.microsoft.com/office/drawing/2014/main" id="{816706D4-DA4E-7257-4D3D-310DD606D859}"/>
                </a:ext>
              </a:extLst>
            </p:cNvPr>
            <p:cNvSpPr/>
            <p:nvPr/>
          </p:nvSpPr>
          <p:spPr>
            <a:xfrm>
              <a:off x="2098768" y="4607056"/>
              <a:ext cx="318047" cy="334593"/>
            </a:xfrm>
            <a:prstGeom prst="flowChartConnector">
              <a:avLst/>
            </a:prstGeom>
            <a:solidFill>
              <a:srgbClr val="0B57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十字形 16">
              <a:extLst>
                <a:ext uri="{FF2B5EF4-FFF2-40B4-BE49-F238E27FC236}">
                  <a16:creationId xmlns:a16="http://schemas.microsoft.com/office/drawing/2014/main" id="{ED62B4B4-7A6A-BCF7-905B-3C152023BEFB}"/>
                </a:ext>
              </a:extLst>
            </p:cNvPr>
            <p:cNvSpPr/>
            <p:nvPr/>
          </p:nvSpPr>
          <p:spPr>
            <a:xfrm rot="2634285">
              <a:off x="4720828" y="4460276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rgbClr val="0B57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76592EE-2084-7B3F-EC56-921190275F46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受载荷受力说明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D9634CD-9BA5-E99E-A9B9-B179774F7A84}"/>
              </a:ext>
            </a:extLst>
          </p:cNvPr>
          <p:cNvGrpSpPr/>
          <p:nvPr/>
        </p:nvGrpSpPr>
        <p:grpSpPr>
          <a:xfrm>
            <a:off x="12377300" y="1127283"/>
            <a:ext cx="12063662" cy="5585606"/>
            <a:chOff x="128338" y="1144059"/>
            <a:chExt cx="12063662" cy="558560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C578C8E-765D-5D4F-6479-9208A142661B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6FBDA8E-F256-E3F3-7277-70AE5526D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7A8CAFC-7F59-E3D1-208E-C3FFB5E2F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4801" y="4321013"/>
              <a:ext cx="0" cy="106559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B972658-3B8F-B2A1-B599-D6D959A2D9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0765" y="3220278"/>
              <a:ext cx="976495" cy="110073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B3FF245-5EBA-7516-E794-2058AF2E8FD7}"/>
                </a:ext>
              </a:extLst>
            </p:cNvPr>
            <p:cNvCxnSpPr>
              <a:cxnSpLocks/>
            </p:cNvCxnSpPr>
            <p:nvPr/>
          </p:nvCxnSpPr>
          <p:spPr>
            <a:xfrm>
              <a:off x="2408085" y="4807021"/>
              <a:ext cx="0" cy="1590604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21D0299-BE01-5B50-05EC-C125800B88AD}"/>
                </a:ext>
              </a:extLst>
            </p:cNvPr>
            <p:cNvSpPr txBox="1"/>
            <p:nvPr/>
          </p:nvSpPr>
          <p:spPr>
            <a:xfrm>
              <a:off x="6280189" y="2851434"/>
              <a:ext cx="591181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下法兰盘受力矩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受力直接由</a:t>
              </a:r>
              <a:r>
                <a:rPr lang="en-US" altLang="zh-CN" sz="3600" dirty="0"/>
                <a:t>3</a:t>
              </a:r>
              <a:r>
                <a:rPr lang="zh-CN" altLang="en-US" sz="3600" dirty="0"/>
                <a:t>个红色力平衡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58EC4A0-CF3A-FD63-0C12-FDB9BEEDCA0B}"/>
                </a:ext>
              </a:extLst>
            </p:cNvPr>
            <p:cNvCxnSpPr>
              <a:cxnSpLocks/>
            </p:cNvCxnSpPr>
            <p:nvPr/>
          </p:nvCxnSpPr>
          <p:spPr>
            <a:xfrm>
              <a:off x="4677320" y="5236222"/>
              <a:ext cx="0" cy="116140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FFB4678-8BD4-DBEF-A0E5-16E244149D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0765" y="3220278"/>
              <a:ext cx="976495" cy="1100735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6CC2EA2-AB29-D919-D749-6B5B9B45FE05}"/>
              </a:ext>
            </a:extLst>
          </p:cNvPr>
          <p:cNvGrpSpPr/>
          <p:nvPr/>
        </p:nvGrpSpPr>
        <p:grpSpPr>
          <a:xfrm>
            <a:off x="-12043585" y="1127283"/>
            <a:ext cx="11917888" cy="5585606"/>
            <a:chOff x="128338" y="1144059"/>
            <a:chExt cx="11917888" cy="558560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270CD57-EBDA-DE21-F2A3-803A938E389A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298D8169-1C0D-14BE-A81F-8383D33CF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ACB5C40-556B-6DA5-A3BD-9C074DFF1804}"/>
                </a:ext>
              </a:extLst>
            </p:cNvPr>
            <p:cNvSpPr txBox="1"/>
            <p:nvPr/>
          </p:nvSpPr>
          <p:spPr>
            <a:xfrm>
              <a:off x="6134416" y="1837200"/>
              <a:ext cx="480658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机械臂末端速度变化快，需要一定的抗加速度能力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F8094977-A3E4-91A8-FF16-FCAAA036AAB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698" y="2437365"/>
              <a:ext cx="0" cy="278534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CCB92CB-6CD8-A039-778E-855BC4C54400}"/>
                </a:ext>
              </a:extLst>
            </p:cNvPr>
            <p:cNvSpPr txBox="1"/>
            <p:nvPr/>
          </p:nvSpPr>
          <p:spPr>
            <a:xfrm>
              <a:off x="486955" y="4471402"/>
              <a:ext cx="5091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a</a:t>
              </a:r>
              <a:endParaRPr lang="zh-CN" altLang="en-US" sz="36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F26B954-F69D-697D-1F0E-C784FBB9B295}"/>
                </a:ext>
              </a:extLst>
            </p:cNvPr>
            <p:cNvSpPr txBox="1"/>
            <p:nvPr/>
          </p:nvSpPr>
          <p:spPr>
            <a:xfrm>
              <a:off x="6134415" y="2984101"/>
              <a:ext cx="443947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本设计采用弹簧而非摩擦力抗加速度</a:t>
              </a:r>
              <a:endParaRPr lang="en-US" altLang="zh-CN" sz="3200" dirty="0"/>
            </a:p>
            <a:p>
              <a:r>
                <a:rPr lang="zh-CN" altLang="en-US" sz="3200" dirty="0"/>
                <a:t>在下端载荷较小的时候仍然具有抗加速度能力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6637DF8B-769E-4035-78E8-5C785708A9A8}"/>
                </a:ext>
              </a:extLst>
            </p:cNvPr>
            <p:cNvCxnSpPr>
              <a:cxnSpLocks/>
            </p:cNvCxnSpPr>
            <p:nvPr/>
          </p:nvCxnSpPr>
          <p:spPr>
            <a:xfrm>
              <a:off x="3626647" y="4015153"/>
              <a:ext cx="0" cy="1748484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21482C72-14CC-0C42-BC19-0E968A156E2B}"/>
              </a:ext>
            </a:extLst>
          </p:cNvPr>
          <p:cNvSpPr txBox="1"/>
          <p:nvPr/>
        </p:nvSpPr>
        <p:spPr>
          <a:xfrm>
            <a:off x="-8377254" y="5402883"/>
            <a:ext cx="50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2"/>
                </a:solidFill>
              </a:rPr>
              <a:t>F</a:t>
            </a:r>
            <a:endParaRPr lang="zh-CN" altLang="en-US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405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E1480-94FB-36BD-BC61-36E48635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0C55F-FBA4-471F-43E4-AAA9F4DE56B9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FE3A2D-1C0B-3502-BF0F-6F2AC0A8AD52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抗加速度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AD36DD3-7893-7C3B-08F7-C267966EACCB}"/>
              </a:ext>
            </a:extLst>
          </p:cNvPr>
          <p:cNvGrpSpPr/>
          <p:nvPr/>
        </p:nvGrpSpPr>
        <p:grpSpPr>
          <a:xfrm>
            <a:off x="128338" y="1144059"/>
            <a:ext cx="11917888" cy="5585606"/>
            <a:chOff x="128338" y="1144059"/>
            <a:chExt cx="11917888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9F41AF-54F2-FD31-C791-D5ED5E216E73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0B6C368-E892-FE28-72F5-53EFE9180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679795-5706-33C4-B667-84B7DAF202D6}"/>
                </a:ext>
              </a:extLst>
            </p:cNvPr>
            <p:cNvSpPr txBox="1"/>
            <p:nvPr/>
          </p:nvSpPr>
          <p:spPr>
            <a:xfrm>
              <a:off x="6134416" y="1837200"/>
              <a:ext cx="480658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机械臂末端速度变化快，需要一定的抗加速度能力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8511F9F-7AF0-D683-5D88-66DA3130524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698" y="2437365"/>
              <a:ext cx="0" cy="278534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B3FBD1-AF5C-7FB3-EEC6-327BBC608854}"/>
                </a:ext>
              </a:extLst>
            </p:cNvPr>
            <p:cNvSpPr txBox="1"/>
            <p:nvPr/>
          </p:nvSpPr>
          <p:spPr>
            <a:xfrm>
              <a:off x="486955" y="4471402"/>
              <a:ext cx="5091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a</a:t>
              </a:r>
              <a:endParaRPr lang="zh-CN" altLang="en-US" sz="36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8B3174C-2260-CDDF-5EB4-215A4CB100E1}"/>
                </a:ext>
              </a:extLst>
            </p:cNvPr>
            <p:cNvSpPr txBox="1"/>
            <p:nvPr/>
          </p:nvSpPr>
          <p:spPr>
            <a:xfrm>
              <a:off x="6134415" y="2984101"/>
              <a:ext cx="443947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139C99"/>
                  </a:solidFill>
                </a:rPr>
                <a:t>本设计采用弹簧而非摩擦力抗加速度</a:t>
              </a:r>
              <a:endParaRPr lang="en-US" altLang="zh-CN" sz="3200" b="1" dirty="0">
                <a:solidFill>
                  <a:srgbClr val="139C99"/>
                </a:solidFill>
              </a:endParaRPr>
            </a:p>
            <a:p>
              <a:r>
                <a:rPr lang="zh-CN" altLang="en-US" sz="3200" dirty="0"/>
                <a:t>在下端载荷较小的时候仍然具有抗加速度能力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F383E80-511E-48F7-1FF0-F8415E899933}"/>
                </a:ext>
              </a:extLst>
            </p:cNvPr>
            <p:cNvCxnSpPr>
              <a:cxnSpLocks/>
            </p:cNvCxnSpPr>
            <p:nvPr/>
          </p:nvCxnSpPr>
          <p:spPr>
            <a:xfrm>
              <a:off x="3626647" y="4015153"/>
              <a:ext cx="0" cy="1748484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7940F93-F1B1-B3A4-7296-9292D24EB36A}"/>
              </a:ext>
            </a:extLst>
          </p:cNvPr>
          <p:cNvSpPr txBox="1"/>
          <p:nvPr/>
        </p:nvSpPr>
        <p:spPr>
          <a:xfrm>
            <a:off x="3817243" y="5117733"/>
            <a:ext cx="50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2"/>
                </a:solidFill>
              </a:rPr>
              <a:t>F</a:t>
            </a:r>
            <a:endParaRPr lang="zh-CN" altLang="en-US" sz="3600" b="1" dirty="0">
              <a:solidFill>
                <a:schemeClr val="accent2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34935FE-90F9-D9B6-09E0-62AC331A3DAF}"/>
              </a:ext>
            </a:extLst>
          </p:cNvPr>
          <p:cNvGrpSpPr/>
          <p:nvPr/>
        </p:nvGrpSpPr>
        <p:grpSpPr>
          <a:xfrm>
            <a:off x="12377300" y="1127283"/>
            <a:ext cx="11917888" cy="5585606"/>
            <a:chOff x="128338" y="1144059"/>
            <a:chExt cx="11917888" cy="5585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B4EEE8-4DBA-EB2F-91D2-583437E19770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6630541-44C6-7EFF-BCFC-C3665B650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28EBCF8-6AE7-0E52-30A0-8A9730C70F52}"/>
                </a:ext>
              </a:extLst>
            </p:cNvPr>
            <p:cNvSpPr txBox="1"/>
            <p:nvPr/>
          </p:nvSpPr>
          <p:spPr>
            <a:xfrm>
              <a:off x="6120915" y="2633326"/>
              <a:ext cx="591181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0B5757"/>
                  </a:solidFill>
                </a:rPr>
                <a:t>下法兰盘受水平力矩</a:t>
              </a:r>
              <a:endParaRPr lang="en-US" altLang="zh-CN" sz="3600" b="1" dirty="0">
                <a:solidFill>
                  <a:srgbClr val="0B5757"/>
                </a:solidFill>
              </a:endParaRPr>
            </a:p>
            <a:p>
              <a:endParaRPr lang="en-US" altLang="zh-CN" sz="3600" dirty="0"/>
            </a:p>
            <a:p>
              <a:r>
                <a:rPr lang="zh-CN" altLang="en-US" sz="3600" dirty="0"/>
                <a:t>受力先由销钉平衡</a:t>
              </a:r>
              <a:endParaRPr lang="en-US" altLang="zh-CN" sz="3600" dirty="0"/>
            </a:p>
            <a:p>
              <a:r>
                <a:rPr lang="zh-CN" altLang="en-US" sz="3600" dirty="0"/>
                <a:t>形变超过</a:t>
              </a:r>
              <a:r>
                <a:rPr lang="en-US" altLang="zh-CN" sz="3600" dirty="0"/>
                <a:t>100</a:t>
              </a:r>
              <a:r>
                <a:rPr lang="zh-CN" altLang="en-US" sz="3600" dirty="0"/>
                <a:t>微米以后由上下端面接触面平衡</a:t>
              </a:r>
              <a:endParaRPr lang="en-US" altLang="zh-CN" sz="3600" dirty="0"/>
            </a:p>
            <a:p>
              <a:endParaRPr lang="zh-CN" altLang="en-US" sz="3600" dirty="0"/>
            </a:p>
          </p:txBody>
        </p:sp>
        <p:sp>
          <p:nvSpPr>
            <p:cNvPr id="15" name="十字形 14">
              <a:extLst>
                <a:ext uri="{FF2B5EF4-FFF2-40B4-BE49-F238E27FC236}">
                  <a16:creationId xmlns:a16="http://schemas.microsoft.com/office/drawing/2014/main" id="{3A43E89C-25F5-0EBB-299C-633638B50751}"/>
                </a:ext>
              </a:extLst>
            </p:cNvPr>
            <p:cNvSpPr/>
            <p:nvPr/>
          </p:nvSpPr>
          <p:spPr>
            <a:xfrm rot="2634285">
              <a:off x="2086057" y="5101376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流程图: 接点 15">
              <a:extLst>
                <a:ext uri="{FF2B5EF4-FFF2-40B4-BE49-F238E27FC236}">
                  <a16:creationId xmlns:a16="http://schemas.microsoft.com/office/drawing/2014/main" id="{745E663D-87F3-F58F-34DA-62F830FCD4B3}"/>
                </a:ext>
              </a:extLst>
            </p:cNvPr>
            <p:cNvSpPr/>
            <p:nvPr/>
          </p:nvSpPr>
          <p:spPr>
            <a:xfrm>
              <a:off x="4700546" y="5248155"/>
              <a:ext cx="318047" cy="334593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十字形 16">
              <a:extLst>
                <a:ext uri="{FF2B5EF4-FFF2-40B4-BE49-F238E27FC236}">
                  <a16:creationId xmlns:a16="http://schemas.microsoft.com/office/drawing/2014/main" id="{83C3B82B-A8AB-32A9-6E19-3FE43ED97951}"/>
                </a:ext>
              </a:extLst>
            </p:cNvPr>
            <p:cNvSpPr/>
            <p:nvPr/>
          </p:nvSpPr>
          <p:spPr>
            <a:xfrm rot="2634285">
              <a:off x="4155915" y="4460278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78134399-5109-8C27-7FFE-9BA702A949E6}"/>
                </a:ext>
              </a:extLst>
            </p:cNvPr>
            <p:cNvSpPr/>
            <p:nvPr/>
          </p:nvSpPr>
          <p:spPr>
            <a:xfrm>
              <a:off x="2580252" y="4607057"/>
              <a:ext cx="318047" cy="334593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3AFC97AA-5E34-B728-68DF-F00D73520A48}"/>
                </a:ext>
              </a:extLst>
            </p:cNvPr>
            <p:cNvSpPr/>
            <p:nvPr/>
          </p:nvSpPr>
          <p:spPr>
            <a:xfrm>
              <a:off x="2098768" y="4607056"/>
              <a:ext cx="318047" cy="334593"/>
            </a:xfrm>
            <a:prstGeom prst="flowChartConnector">
              <a:avLst/>
            </a:prstGeom>
            <a:solidFill>
              <a:srgbClr val="0B57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十字形 21">
              <a:extLst>
                <a:ext uri="{FF2B5EF4-FFF2-40B4-BE49-F238E27FC236}">
                  <a16:creationId xmlns:a16="http://schemas.microsoft.com/office/drawing/2014/main" id="{04C8FCCB-73D1-533B-D039-A19CC0172E69}"/>
                </a:ext>
              </a:extLst>
            </p:cNvPr>
            <p:cNvSpPr/>
            <p:nvPr/>
          </p:nvSpPr>
          <p:spPr>
            <a:xfrm rot="2634285">
              <a:off x="4720828" y="4460276"/>
              <a:ext cx="644056" cy="628153"/>
            </a:xfrm>
            <a:prstGeom prst="plus">
              <a:avLst>
                <a:gd name="adj" fmla="val 38924"/>
              </a:avLst>
            </a:prstGeom>
            <a:solidFill>
              <a:srgbClr val="0B57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C4C6418-B45E-C62A-5541-AF5FDB4C6BDA}"/>
              </a:ext>
            </a:extLst>
          </p:cNvPr>
          <p:cNvGrpSpPr/>
          <p:nvPr/>
        </p:nvGrpSpPr>
        <p:grpSpPr>
          <a:xfrm>
            <a:off x="-12151375" y="1127283"/>
            <a:ext cx="11917888" cy="5585606"/>
            <a:chOff x="128338" y="1144059"/>
            <a:chExt cx="11917888" cy="558560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907F835-C79C-3072-1D29-DB7854D01A1A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7FB4D947-A861-CF23-1795-DDBD855BB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E4E1FF-B4A2-8FC1-565B-FFA2B485EE03}"/>
                </a:ext>
              </a:extLst>
            </p:cNvPr>
            <p:cNvSpPr txBox="1"/>
            <p:nvPr/>
          </p:nvSpPr>
          <p:spPr>
            <a:xfrm>
              <a:off x="6562797" y="2732966"/>
              <a:ext cx="443947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该设计均可以抗任意方向的加速度和角加速度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这里不过多赘述</a:t>
              </a: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A7319BA-AD6B-E5C7-9C77-B40BC8FFCB9A}"/>
                </a:ext>
              </a:extLst>
            </p:cNvPr>
            <p:cNvGrpSpPr/>
            <p:nvPr/>
          </p:nvGrpSpPr>
          <p:grpSpPr>
            <a:xfrm>
              <a:off x="551401" y="4150085"/>
              <a:ext cx="1534646" cy="1935296"/>
              <a:chOff x="837079" y="1442547"/>
              <a:chExt cx="1534646" cy="1935296"/>
            </a:xfrm>
          </p:grpSpPr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21A1347C-D533-2332-EA73-EE4F97533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173" y="2728243"/>
                <a:ext cx="1194552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C12D738-4EDD-96D9-A52F-299D888192DC}"/>
                  </a:ext>
                </a:extLst>
              </p:cNvPr>
              <p:cNvSpPr txBox="1"/>
              <p:nvPr/>
            </p:nvSpPr>
            <p:spPr>
              <a:xfrm>
                <a:off x="1176052" y="2623226"/>
                <a:ext cx="509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a</a:t>
                </a:r>
                <a:endParaRPr lang="zh-CN" altLang="en-US" sz="3600" dirty="0"/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817E198D-C127-F104-7431-5EF2A181F2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7173" y="1442547"/>
                <a:ext cx="0" cy="128996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4765AAFD-3ECD-9626-1609-B2BE9D6A28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5006" y="2711210"/>
                <a:ext cx="231692" cy="63782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流程图: 接点 38">
                <a:extLst>
                  <a:ext uri="{FF2B5EF4-FFF2-40B4-BE49-F238E27FC236}">
                    <a16:creationId xmlns:a16="http://schemas.microsoft.com/office/drawing/2014/main" id="{9BF36D00-6C34-9F35-341C-8618F08563C2}"/>
                  </a:ext>
                </a:extLst>
              </p:cNvPr>
              <p:cNvSpPr/>
              <p:nvPr/>
            </p:nvSpPr>
            <p:spPr>
              <a:xfrm>
                <a:off x="837079" y="3043250"/>
                <a:ext cx="318047" cy="334593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726AD53-668F-54D3-C682-1122C00423A8}"/>
                </a:ext>
              </a:extLst>
            </p:cNvPr>
            <p:cNvGrpSpPr/>
            <p:nvPr/>
          </p:nvGrpSpPr>
          <p:grpSpPr>
            <a:xfrm>
              <a:off x="5028151" y="4336412"/>
              <a:ext cx="1534646" cy="1935296"/>
              <a:chOff x="837079" y="1442547"/>
              <a:chExt cx="1534646" cy="1935296"/>
            </a:xfrm>
          </p:grpSpPr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E9CB39AF-7140-49D7-323C-10172CCC9D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173" y="2728243"/>
                <a:ext cx="1194552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8C2D703-F0B8-B4E6-273C-E9227A49AF35}"/>
                  </a:ext>
                </a:extLst>
              </p:cNvPr>
              <p:cNvSpPr txBox="1"/>
              <p:nvPr/>
            </p:nvSpPr>
            <p:spPr>
              <a:xfrm>
                <a:off x="1176052" y="2623226"/>
                <a:ext cx="509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3600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α</a:t>
                </a:r>
                <a:endParaRPr lang="zh-CN" altLang="en-US" sz="3600" dirty="0"/>
              </a:p>
            </p:txBody>
          </p: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FEB3AA9D-B3A0-4287-06FA-C496DFBBF2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7173" y="1442547"/>
                <a:ext cx="0" cy="128996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CA8C58AB-CC4D-393E-33EB-98BBF4EBA6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5006" y="2711210"/>
                <a:ext cx="231692" cy="63782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流程图: 接点 33">
                <a:extLst>
                  <a:ext uri="{FF2B5EF4-FFF2-40B4-BE49-F238E27FC236}">
                    <a16:creationId xmlns:a16="http://schemas.microsoft.com/office/drawing/2014/main" id="{420DD0E4-CE25-550A-BB19-ED95A8ED4B46}"/>
                  </a:ext>
                </a:extLst>
              </p:cNvPr>
              <p:cNvSpPr/>
              <p:nvPr/>
            </p:nvSpPr>
            <p:spPr>
              <a:xfrm>
                <a:off x="837079" y="3043250"/>
                <a:ext cx="318047" cy="334593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19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C131E-5C4A-DE88-7FB9-E65A5A88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7B3CB-3A45-3B2D-761C-DD2817A27B18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37C564-BBFC-7AC7-2CF0-B09A1B699D11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抗加速度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005BAF5-280B-A1D5-E12E-2FFCB9B80B95}"/>
              </a:ext>
            </a:extLst>
          </p:cNvPr>
          <p:cNvGrpSpPr/>
          <p:nvPr/>
        </p:nvGrpSpPr>
        <p:grpSpPr>
          <a:xfrm>
            <a:off x="128338" y="1144059"/>
            <a:ext cx="11917888" cy="5585606"/>
            <a:chOff x="128338" y="1144059"/>
            <a:chExt cx="11917888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3304221-9E76-0C13-D1A6-0798F70BA493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C947208-BBE4-3B1C-6E80-75FACA59B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8C603BA-1F00-FEE9-F311-B9AE4D9A5B79}"/>
                </a:ext>
              </a:extLst>
            </p:cNvPr>
            <p:cNvSpPr txBox="1"/>
            <p:nvPr/>
          </p:nvSpPr>
          <p:spPr>
            <a:xfrm>
              <a:off x="6562797" y="2732966"/>
              <a:ext cx="443947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该设计均可以抗任意方向的加速度和角加速度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这里不过多赘述</a:t>
              </a: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C7FA9E6-0356-08A9-E742-936CC623040A}"/>
                </a:ext>
              </a:extLst>
            </p:cNvPr>
            <p:cNvGrpSpPr/>
            <p:nvPr/>
          </p:nvGrpSpPr>
          <p:grpSpPr>
            <a:xfrm>
              <a:off x="551401" y="4150085"/>
              <a:ext cx="1534646" cy="1935296"/>
              <a:chOff x="837079" y="1442547"/>
              <a:chExt cx="1534646" cy="1935296"/>
            </a:xfrm>
          </p:grpSpPr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EFAF7DEA-C8B8-B93B-BD40-5B710D360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173" y="2728243"/>
                <a:ext cx="1194552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C0A88D-47A7-0331-33E3-2508E9FE4C3F}"/>
                  </a:ext>
                </a:extLst>
              </p:cNvPr>
              <p:cNvSpPr txBox="1"/>
              <p:nvPr/>
            </p:nvSpPr>
            <p:spPr>
              <a:xfrm>
                <a:off x="1176052" y="2623226"/>
                <a:ext cx="509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a</a:t>
                </a:r>
                <a:endParaRPr lang="zh-CN" altLang="en-US" sz="3600" dirty="0"/>
              </a:p>
            </p:txBody>
          </p: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3E67B75C-1108-E84F-2E8A-113B2A9F68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7173" y="1442547"/>
                <a:ext cx="0" cy="128996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E6988CE4-BB26-241A-0C86-78957D6D2D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5006" y="2711210"/>
                <a:ext cx="231692" cy="63782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流程图: 接点 9">
                <a:extLst>
                  <a:ext uri="{FF2B5EF4-FFF2-40B4-BE49-F238E27FC236}">
                    <a16:creationId xmlns:a16="http://schemas.microsoft.com/office/drawing/2014/main" id="{F5C9A220-CCDC-CBF7-1BFC-FE4969EC8B47}"/>
                  </a:ext>
                </a:extLst>
              </p:cNvPr>
              <p:cNvSpPr/>
              <p:nvPr/>
            </p:nvSpPr>
            <p:spPr>
              <a:xfrm>
                <a:off x="837079" y="3043250"/>
                <a:ext cx="318047" cy="334593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A3B85C6C-0F9F-381E-E45E-BB3AE6E36AD7}"/>
                </a:ext>
              </a:extLst>
            </p:cNvPr>
            <p:cNvGrpSpPr/>
            <p:nvPr/>
          </p:nvGrpSpPr>
          <p:grpSpPr>
            <a:xfrm>
              <a:off x="5028151" y="4336412"/>
              <a:ext cx="1534646" cy="1935296"/>
              <a:chOff x="837079" y="1442547"/>
              <a:chExt cx="1534646" cy="1935296"/>
            </a:xfrm>
          </p:grpSpPr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96D160F2-B636-ED7D-23C4-ECB5D5459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173" y="2728243"/>
                <a:ext cx="1194552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4F3A42A-F970-C303-577C-0514F0A71E4A}"/>
                  </a:ext>
                </a:extLst>
              </p:cNvPr>
              <p:cNvSpPr txBox="1"/>
              <p:nvPr/>
            </p:nvSpPr>
            <p:spPr>
              <a:xfrm>
                <a:off x="1176052" y="2623226"/>
                <a:ext cx="509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3600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α</a:t>
                </a:r>
                <a:endParaRPr lang="zh-CN" altLang="en-US" sz="3600" dirty="0"/>
              </a:p>
            </p:txBody>
          </p: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11D9BF4D-67E6-8C6A-35CF-8A270A3B5F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7173" y="1442547"/>
                <a:ext cx="0" cy="128996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110F7AF5-6425-B2FD-FC21-C1F6EABA11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5006" y="2711210"/>
                <a:ext cx="231692" cy="63782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3ED1F856-21D9-9DDF-7F12-9F7B1648CABB}"/>
                  </a:ext>
                </a:extLst>
              </p:cNvPr>
              <p:cNvSpPr/>
              <p:nvPr/>
            </p:nvSpPr>
            <p:spPr>
              <a:xfrm>
                <a:off x="837079" y="3043250"/>
                <a:ext cx="318047" cy="334593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C14C447-F8E6-4C78-4F59-D7269C65750B}"/>
              </a:ext>
            </a:extLst>
          </p:cNvPr>
          <p:cNvGrpSpPr/>
          <p:nvPr/>
        </p:nvGrpSpPr>
        <p:grpSpPr>
          <a:xfrm>
            <a:off x="12377300" y="1144059"/>
            <a:ext cx="11917888" cy="5585606"/>
            <a:chOff x="128338" y="1144059"/>
            <a:chExt cx="11917888" cy="5585606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40BAAF9-E901-C214-6845-1F899F8F5DC6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9A4593F6-338F-9A1F-91F7-73EBC4326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CEEFC12-2F1F-D4D2-7754-45AB7E132D1B}"/>
                </a:ext>
              </a:extLst>
            </p:cNvPr>
            <p:cNvSpPr txBox="1"/>
            <p:nvPr/>
          </p:nvSpPr>
          <p:spPr>
            <a:xfrm>
              <a:off x="6134416" y="1837200"/>
              <a:ext cx="480658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机械臂末端速度变化快，需要一定的抗加速度能力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B5E27DD-33D5-EA40-44DB-4C87FB160FF6}"/>
                </a:ext>
              </a:extLst>
            </p:cNvPr>
            <p:cNvCxnSpPr>
              <a:cxnSpLocks/>
            </p:cNvCxnSpPr>
            <p:nvPr/>
          </p:nvCxnSpPr>
          <p:spPr>
            <a:xfrm>
              <a:off x="1186698" y="2437365"/>
              <a:ext cx="0" cy="278534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DFCB125-AB58-3955-828E-6E4231B7B811}"/>
                </a:ext>
              </a:extLst>
            </p:cNvPr>
            <p:cNvSpPr txBox="1"/>
            <p:nvPr/>
          </p:nvSpPr>
          <p:spPr>
            <a:xfrm>
              <a:off x="486955" y="4471402"/>
              <a:ext cx="5091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a</a:t>
              </a:r>
              <a:endParaRPr lang="zh-CN" altLang="en-US" sz="36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EB38BD4-167B-E150-7C07-6929D11F1DDA}"/>
                </a:ext>
              </a:extLst>
            </p:cNvPr>
            <p:cNvSpPr txBox="1"/>
            <p:nvPr/>
          </p:nvSpPr>
          <p:spPr>
            <a:xfrm>
              <a:off x="6134415" y="2984101"/>
              <a:ext cx="443947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本设计采用弹簧而非摩擦力抗加速度</a:t>
              </a:r>
              <a:endParaRPr lang="en-US" altLang="zh-CN" sz="3200" dirty="0"/>
            </a:p>
            <a:p>
              <a:r>
                <a:rPr lang="zh-CN" altLang="en-US" sz="3200" dirty="0"/>
                <a:t>在下端载荷较小的时候仍然具有抗加速度能力</a:t>
              </a: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34A0408-BF08-3590-EF64-527EE9B8A890}"/>
                </a:ext>
              </a:extLst>
            </p:cNvPr>
            <p:cNvCxnSpPr>
              <a:cxnSpLocks/>
            </p:cNvCxnSpPr>
            <p:nvPr/>
          </p:nvCxnSpPr>
          <p:spPr>
            <a:xfrm>
              <a:off x="3626647" y="4015153"/>
              <a:ext cx="0" cy="1748484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228600">
                <a:schemeClr val="tx1">
                  <a:lumMod val="95000"/>
                  <a:lumOff val="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E18852C-C674-CD55-9F55-B89BAC396EBA}"/>
              </a:ext>
            </a:extLst>
          </p:cNvPr>
          <p:cNvGrpSpPr/>
          <p:nvPr/>
        </p:nvGrpSpPr>
        <p:grpSpPr>
          <a:xfrm>
            <a:off x="-12042155" y="1174112"/>
            <a:ext cx="11917888" cy="5585606"/>
            <a:chOff x="128338" y="1144059"/>
            <a:chExt cx="11917888" cy="5585606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08333B5-2E60-B9A4-247F-F022341448B2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02FE619-9D0C-C867-6A43-3C67CF8A5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33937AAF-8F10-E281-7363-73AA669D8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273" y="5095711"/>
              <a:ext cx="0" cy="1301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B0DB06A-DF8A-4782-DE8B-83268D25CEEE}"/>
                </a:ext>
              </a:extLst>
            </p:cNvPr>
            <p:cNvSpPr txBox="1"/>
            <p:nvPr/>
          </p:nvSpPr>
          <p:spPr>
            <a:xfrm>
              <a:off x="6376139" y="3320534"/>
              <a:ext cx="443947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下盖在手动松脱装置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下方提供挡片防误触</a:t>
              </a: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68864E2-E1F6-F8AD-9E32-48B6F0AF0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3873" y="5089891"/>
              <a:ext cx="0" cy="1301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A7E97F4-BC87-550A-50EF-9ED43D5DC798}"/>
                </a:ext>
              </a:extLst>
            </p:cNvPr>
            <p:cNvCxnSpPr>
              <a:cxnSpLocks/>
            </p:cNvCxnSpPr>
            <p:nvPr/>
          </p:nvCxnSpPr>
          <p:spPr>
            <a:xfrm>
              <a:off x="685800" y="5089891"/>
              <a:ext cx="1415298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D13C2DB-5A5A-A57F-97E2-0EF206C3B020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75" y="5089891"/>
              <a:ext cx="1415298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B51DBB8F-A0BF-5CA7-0F53-C8F7750363F9}"/>
              </a:ext>
            </a:extLst>
          </p:cNvPr>
          <p:cNvSpPr txBox="1"/>
          <p:nvPr/>
        </p:nvSpPr>
        <p:spPr>
          <a:xfrm>
            <a:off x="16173357" y="5458080"/>
            <a:ext cx="50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2"/>
                </a:solidFill>
              </a:rPr>
              <a:t>F</a:t>
            </a:r>
            <a:endParaRPr lang="zh-CN" altLang="en-US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558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2FF32-A2D5-5488-B62A-B225140F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8E96E-672C-84FC-1CAD-9116B0C578DA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153827-1EE4-4DD1-905B-71C9F78B7D0E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防误触设计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19CA601-65C7-5E22-4AC3-16ED57BA64D9}"/>
              </a:ext>
            </a:extLst>
          </p:cNvPr>
          <p:cNvGrpSpPr/>
          <p:nvPr/>
        </p:nvGrpSpPr>
        <p:grpSpPr>
          <a:xfrm>
            <a:off x="128338" y="1144059"/>
            <a:ext cx="11917888" cy="5585606"/>
            <a:chOff x="128338" y="1144059"/>
            <a:chExt cx="11917888" cy="55856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ECCD938-C670-22A9-3D8C-DDEA1B8A81F7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F4E919B-2D48-38F6-F20D-57DA086D9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27674879-5A5C-AD0A-D9D2-55C5A6A388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273" y="5095711"/>
              <a:ext cx="0" cy="1301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B5551F-B427-E3AE-61A3-85D470D9F004}"/>
                </a:ext>
              </a:extLst>
            </p:cNvPr>
            <p:cNvSpPr txBox="1"/>
            <p:nvPr/>
          </p:nvSpPr>
          <p:spPr>
            <a:xfrm>
              <a:off x="6376139" y="3320534"/>
              <a:ext cx="443947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下盖在手动松脱装置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下方提供挡片防误触</a:t>
              </a: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AB3614F-2641-0064-452A-5DFEEF556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3873" y="5089891"/>
              <a:ext cx="0" cy="1301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7B5CF2D-ED83-E4EC-6CA5-CABF3F6ADDCA}"/>
                </a:ext>
              </a:extLst>
            </p:cNvPr>
            <p:cNvCxnSpPr>
              <a:cxnSpLocks/>
            </p:cNvCxnSpPr>
            <p:nvPr/>
          </p:nvCxnSpPr>
          <p:spPr>
            <a:xfrm>
              <a:off x="685800" y="5089891"/>
              <a:ext cx="1415298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AE4ADF3-DDFA-9E67-4D54-57D84236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75" y="5089891"/>
              <a:ext cx="1415298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C45C486-B2B7-EC7D-35AF-154DD8E7691B}"/>
              </a:ext>
            </a:extLst>
          </p:cNvPr>
          <p:cNvGrpSpPr/>
          <p:nvPr/>
        </p:nvGrpSpPr>
        <p:grpSpPr>
          <a:xfrm>
            <a:off x="12377300" y="1127283"/>
            <a:ext cx="11917888" cy="5585606"/>
            <a:chOff x="128338" y="1144059"/>
            <a:chExt cx="11917888" cy="558560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FA7C520-D0D3-5AA0-BAF6-3C1D5D70078E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17C992F-1710-9D1B-9A98-13AC62352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FCF73AE-275C-FA94-FA49-FC976FE802D2}"/>
                </a:ext>
              </a:extLst>
            </p:cNvPr>
            <p:cNvSpPr txBox="1"/>
            <p:nvPr/>
          </p:nvSpPr>
          <p:spPr>
            <a:xfrm>
              <a:off x="6562797" y="2732966"/>
              <a:ext cx="443947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该设计均可以抗任意方向的加速度和角加速度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这里不过多赘述</a:t>
              </a: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69548A8-F91C-F5A4-9D37-3CCDBDC2AD5A}"/>
                </a:ext>
              </a:extLst>
            </p:cNvPr>
            <p:cNvGrpSpPr/>
            <p:nvPr/>
          </p:nvGrpSpPr>
          <p:grpSpPr>
            <a:xfrm>
              <a:off x="551401" y="4150085"/>
              <a:ext cx="1534646" cy="1935296"/>
              <a:chOff x="837079" y="1442547"/>
              <a:chExt cx="1534646" cy="1935296"/>
            </a:xfrm>
          </p:grpSpPr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E1EF1222-D77A-58F3-43E1-0734034828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173" y="2728243"/>
                <a:ext cx="1194552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21858B4-4DEC-B5AE-084B-D71F88554EC6}"/>
                  </a:ext>
                </a:extLst>
              </p:cNvPr>
              <p:cNvSpPr txBox="1"/>
              <p:nvPr/>
            </p:nvSpPr>
            <p:spPr>
              <a:xfrm>
                <a:off x="1176052" y="2623226"/>
                <a:ext cx="509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a</a:t>
                </a:r>
                <a:endParaRPr lang="zh-CN" altLang="en-US" sz="3600" dirty="0"/>
              </a:p>
            </p:txBody>
          </p: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6B51F8D-B551-D88B-5742-3D942070A8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7173" y="1442547"/>
                <a:ext cx="0" cy="128996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87FA97E6-8941-04F4-7B94-8BA1ACDECF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5006" y="2711210"/>
                <a:ext cx="231692" cy="63782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流程图: 接点 33">
                <a:extLst>
                  <a:ext uri="{FF2B5EF4-FFF2-40B4-BE49-F238E27FC236}">
                    <a16:creationId xmlns:a16="http://schemas.microsoft.com/office/drawing/2014/main" id="{66C69A19-19D2-9D1B-39CE-3152A4E87F38}"/>
                  </a:ext>
                </a:extLst>
              </p:cNvPr>
              <p:cNvSpPr/>
              <p:nvPr/>
            </p:nvSpPr>
            <p:spPr>
              <a:xfrm>
                <a:off x="837079" y="3043250"/>
                <a:ext cx="318047" cy="334593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F8E0576-3483-D066-475C-BF5E578603E4}"/>
                </a:ext>
              </a:extLst>
            </p:cNvPr>
            <p:cNvGrpSpPr/>
            <p:nvPr/>
          </p:nvGrpSpPr>
          <p:grpSpPr>
            <a:xfrm>
              <a:off x="5028151" y="4336412"/>
              <a:ext cx="1534646" cy="1935296"/>
              <a:chOff x="837079" y="1442547"/>
              <a:chExt cx="1534646" cy="1935296"/>
            </a:xfrm>
          </p:grpSpPr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BFC3757E-C12B-3AF2-C1E9-DB351481C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173" y="2728243"/>
                <a:ext cx="1194552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81278CF-9277-7151-D164-F08D9C9521A9}"/>
                  </a:ext>
                </a:extLst>
              </p:cNvPr>
              <p:cNvSpPr txBox="1"/>
              <p:nvPr/>
            </p:nvSpPr>
            <p:spPr>
              <a:xfrm>
                <a:off x="1176052" y="2623226"/>
                <a:ext cx="509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3600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α</a:t>
                </a:r>
                <a:endParaRPr lang="zh-CN" altLang="en-US" sz="3600" dirty="0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41CAE5B2-2DBD-B987-5A07-813FA1FC99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7173" y="1442547"/>
                <a:ext cx="0" cy="128996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4E05E5BD-9FEC-E43F-BFB9-42D93FE36B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5006" y="2711210"/>
                <a:ext cx="231692" cy="63782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  <a:effectLst>
                <a:glow rad="2286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流程图: 接点 28">
                <a:extLst>
                  <a:ext uri="{FF2B5EF4-FFF2-40B4-BE49-F238E27FC236}">
                    <a16:creationId xmlns:a16="http://schemas.microsoft.com/office/drawing/2014/main" id="{D4090E07-89FC-E650-52D3-BE3EC74B9FDE}"/>
                  </a:ext>
                </a:extLst>
              </p:cNvPr>
              <p:cNvSpPr/>
              <p:nvPr/>
            </p:nvSpPr>
            <p:spPr>
              <a:xfrm>
                <a:off x="837079" y="3043250"/>
                <a:ext cx="318047" cy="334593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0A11AB71-B58E-2DDA-B960-9FFC66CB2C91}"/>
              </a:ext>
            </a:extLst>
          </p:cNvPr>
          <p:cNvSpPr txBox="1"/>
          <p:nvPr/>
        </p:nvSpPr>
        <p:spPr>
          <a:xfrm>
            <a:off x="3666178" y="-849657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大小说明</a:t>
            </a:r>
          </a:p>
        </p:txBody>
      </p:sp>
    </p:spTree>
    <p:extLst>
      <p:ext uri="{BB962C8B-B14F-4D97-AF65-F5344CB8AC3E}">
        <p14:creationId xmlns:p14="http://schemas.microsoft.com/office/powerpoint/2010/main" val="4182291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4A6EC-E627-F822-0599-98316F9A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E6BDCF4-63F4-3CCA-AC5E-2B4E6C4422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738" y="-267787"/>
            <a:ext cx="12195738" cy="79552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B7DF747-DC0B-47E2-9148-D59018EA4CD7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E428FC-087A-3A6F-585B-E4675EF800D3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大小说明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F1EE7B-6FBD-82FE-D98E-B444B382715C}"/>
              </a:ext>
            </a:extLst>
          </p:cNvPr>
          <p:cNvSpPr txBox="1"/>
          <p:nvPr/>
        </p:nvSpPr>
        <p:spPr>
          <a:xfrm>
            <a:off x="969620" y="2043346"/>
            <a:ext cx="5903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总体大小有</a:t>
            </a:r>
            <a:r>
              <a:rPr lang="en-US" altLang="zh-CN" sz="2800" b="1" dirty="0"/>
              <a:t>4cmX4cmX3.9cm</a:t>
            </a:r>
          </a:p>
          <a:p>
            <a:endParaRPr lang="en-US" altLang="zh-CN" sz="2800" b="1" dirty="0"/>
          </a:p>
          <a:p>
            <a:r>
              <a:rPr lang="zh-CN" altLang="en-US" sz="2800" b="1" dirty="0"/>
              <a:t>若不计入法兰盘厚度仅有</a:t>
            </a:r>
            <a:r>
              <a:rPr lang="en-US" altLang="zh-CN" sz="2800" b="1" dirty="0"/>
              <a:t>1.7cm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22F5CAC-48A6-54E9-BB03-092734D806F1}"/>
              </a:ext>
            </a:extLst>
          </p:cNvPr>
          <p:cNvGrpSpPr/>
          <p:nvPr/>
        </p:nvGrpSpPr>
        <p:grpSpPr>
          <a:xfrm>
            <a:off x="12655150" y="1058487"/>
            <a:ext cx="11917888" cy="5585606"/>
            <a:chOff x="128338" y="1144059"/>
            <a:chExt cx="11917888" cy="55856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A69513-07C8-B6CA-B026-9AF53A16EE9B}"/>
                </a:ext>
              </a:extLst>
            </p:cNvPr>
            <p:cNvSpPr/>
            <p:nvPr/>
          </p:nvSpPr>
          <p:spPr>
            <a:xfrm>
              <a:off x="128338" y="1144059"/>
              <a:ext cx="11917888" cy="558560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C95A800-2ACA-0420-E5AA-581EDAA6C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5507" y="1442547"/>
              <a:ext cx="5252080" cy="4955078"/>
            </a:xfrm>
            <a:prstGeom prst="rect">
              <a:avLst/>
            </a:prstGeom>
            <a:effectLst>
              <a:softEdge rad="266700"/>
            </a:effectLst>
          </p:spPr>
        </p:pic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589F106-D096-AA0F-0860-339055679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273" y="5095711"/>
              <a:ext cx="0" cy="1301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31EA34F-D503-2DBC-883A-0FAA8600457E}"/>
                </a:ext>
              </a:extLst>
            </p:cNvPr>
            <p:cNvSpPr txBox="1"/>
            <p:nvPr/>
          </p:nvSpPr>
          <p:spPr>
            <a:xfrm>
              <a:off x="6376139" y="3320534"/>
              <a:ext cx="443947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下盖在手动松脱装置</a:t>
              </a:r>
              <a:endParaRPr lang="en-US" altLang="zh-CN" sz="3200" dirty="0"/>
            </a:p>
            <a:p>
              <a:endParaRPr lang="en-US" altLang="zh-CN" sz="3200" dirty="0"/>
            </a:p>
            <a:p>
              <a:r>
                <a:rPr lang="zh-CN" altLang="en-US" sz="3200" dirty="0"/>
                <a:t>下方提供挡片防误触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375150F-A27E-892C-C07B-6A0CDDEF89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3873" y="5089891"/>
              <a:ext cx="0" cy="1301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>
              <a:glow rad="2286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E449679-737E-3631-6132-0F3864F46676}"/>
                </a:ext>
              </a:extLst>
            </p:cNvPr>
            <p:cNvCxnSpPr>
              <a:cxnSpLocks/>
            </p:cNvCxnSpPr>
            <p:nvPr/>
          </p:nvCxnSpPr>
          <p:spPr>
            <a:xfrm>
              <a:off x="685800" y="5089891"/>
              <a:ext cx="1415298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0EE1F13-AD98-0AA3-9DF4-684DBEAC3573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75" y="5089891"/>
              <a:ext cx="1415298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47935E0-8DE4-2B3C-3E81-506050548BD1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4550DCA-843E-FC0C-859A-8B70433B6568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FF58D3B0-4CE6-3769-9654-52985EEE5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26" name="标题 1">
              <a:extLst>
                <a:ext uri="{FF2B5EF4-FFF2-40B4-BE49-F238E27FC236}">
                  <a16:creationId xmlns:a16="http://schemas.microsoft.com/office/drawing/2014/main" id="{DCC5408B-3C02-31A2-99BB-874FD9AAE96A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7CFEC97-8665-D474-F2AA-F115B245EE62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909B65E-5EF1-2FA9-DB46-019FE1CACD13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9" name="内容占位符 4">
              <a:extLst>
                <a:ext uri="{FF2B5EF4-FFF2-40B4-BE49-F238E27FC236}">
                  <a16:creationId xmlns:a16="http://schemas.microsoft.com/office/drawing/2014/main" id="{F5D92E71-C938-6B9A-1C1B-DB3509A6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30" name="标题 1">
              <a:extLst>
                <a:ext uri="{FF2B5EF4-FFF2-40B4-BE49-F238E27FC236}">
                  <a16:creationId xmlns:a16="http://schemas.microsoft.com/office/drawing/2014/main" id="{FF280F03-1BFE-FBC5-75CF-DD5726E46D0B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60F0028-9275-B0EC-9EEB-56AC934F5EA1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43E07AE-666F-4BC1-CF90-17619A8C1492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68CD8FD6-B285-CD0A-93D8-3948E26B8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34" name="标题 1">
              <a:extLst>
                <a:ext uri="{FF2B5EF4-FFF2-40B4-BE49-F238E27FC236}">
                  <a16:creationId xmlns:a16="http://schemas.microsoft.com/office/drawing/2014/main" id="{71B7F95D-57A8-0398-26F8-700BD323642E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2683594-CF6A-401F-3191-67AD5BF250C8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3DFCFDA-2D59-5EE3-EE27-3AFADECBD2DD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标题 1">
              <a:extLst>
                <a:ext uri="{FF2B5EF4-FFF2-40B4-BE49-F238E27FC236}">
                  <a16:creationId xmlns:a16="http://schemas.microsoft.com/office/drawing/2014/main" id="{DED422DE-7F0E-2BA1-95FE-7216DF1F14A6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C2F0EE0-D7A0-0BC7-19D6-466ECE678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</p:spTree>
    <p:extLst>
      <p:ext uri="{BB962C8B-B14F-4D97-AF65-F5344CB8AC3E}">
        <p14:creationId xmlns:p14="http://schemas.microsoft.com/office/powerpoint/2010/main" val="2283641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17875-865B-BBF0-D9B8-2D47C255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D40C350-F4D3-DE83-5E10-315CA94278A5}"/>
              </a:ext>
            </a:extLst>
          </p:cNvPr>
          <p:cNvGrpSpPr/>
          <p:nvPr/>
        </p:nvGrpSpPr>
        <p:grpSpPr>
          <a:xfrm>
            <a:off x="128336" y="128336"/>
            <a:ext cx="3705726" cy="6601328"/>
            <a:chOff x="128336" y="128336"/>
            <a:chExt cx="3705726" cy="66013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193ABC9-CFE2-F09B-4A85-E412E48CB4EA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7DBBBC6-04F1-C9BE-5DD2-B76295990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6AD961AC-F569-F98B-2744-4B1A1832927C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6C3467C-D46C-6F49-2997-9F6EEEC23899}"/>
              </a:ext>
            </a:extLst>
          </p:cNvPr>
          <p:cNvGrpSpPr/>
          <p:nvPr/>
        </p:nvGrpSpPr>
        <p:grpSpPr>
          <a:xfrm>
            <a:off x="3986463" y="3429000"/>
            <a:ext cx="4219073" cy="3300664"/>
            <a:chOff x="3986463" y="3429000"/>
            <a:chExt cx="4219073" cy="33006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CEE2317-FE47-341E-B9CE-B6863D6C8F56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6777CC8-09A1-3097-BA77-38F19B05B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D86FC124-70E7-F642-7CCC-E1FC7D9A9BA4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4B312C2-0FDD-2125-1D4D-6E9E3B4166A9}"/>
              </a:ext>
            </a:extLst>
          </p:cNvPr>
          <p:cNvGrpSpPr/>
          <p:nvPr/>
        </p:nvGrpSpPr>
        <p:grpSpPr>
          <a:xfrm>
            <a:off x="3986463" y="128336"/>
            <a:ext cx="4219073" cy="3184358"/>
            <a:chOff x="3986463" y="128336"/>
            <a:chExt cx="4219073" cy="318435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2F94E00-248F-DE10-20C3-FA6D3F3440F6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3" name="内容占位符 4">
              <a:extLst>
                <a:ext uri="{FF2B5EF4-FFF2-40B4-BE49-F238E27FC236}">
                  <a16:creationId xmlns:a16="http://schemas.microsoft.com/office/drawing/2014/main" id="{2F53FF7B-1A87-46B5-6859-BCE977F4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24" name="标题 1">
              <a:extLst>
                <a:ext uri="{FF2B5EF4-FFF2-40B4-BE49-F238E27FC236}">
                  <a16:creationId xmlns:a16="http://schemas.microsoft.com/office/drawing/2014/main" id="{5796D749-F6F4-D3DE-63ED-8FDCE6439FED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0F45BB4-D72E-E94C-03E1-D20831BF96A9}"/>
              </a:ext>
            </a:extLst>
          </p:cNvPr>
          <p:cNvGrpSpPr/>
          <p:nvPr/>
        </p:nvGrpSpPr>
        <p:grpSpPr>
          <a:xfrm>
            <a:off x="8157751" y="128336"/>
            <a:ext cx="4034249" cy="6601328"/>
            <a:chOff x="8157751" y="128336"/>
            <a:chExt cx="4034249" cy="660132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9DE186A-79CA-E213-059D-837026963052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标题 1">
              <a:extLst>
                <a:ext uri="{FF2B5EF4-FFF2-40B4-BE49-F238E27FC236}">
                  <a16:creationId xmlns:a16="http://schemas.microsoft.com/office/drawing/2014/main" id="{341AF753-CBB6-7DAF-589C-BE55FC989BFE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BDE42CC-78BC-F8F0-EA3B-15EEB6692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</p:spTree>
    <p:extLst>
      <p:ext uri="{BB962C8B-B14F-4D97-AF65-F5344CB8AC3E}">
        <p14:creationId xmlns:p14="http://schemas.microsoft.com/office/powerpoint/2010/main" val="273629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9BF3C7B-5A24-FF93-8CDF-3E2E451A8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9472" y="-583003"/>
            <a:ext cx="12652916" cy="802400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58CA70-A25D-B5F9-8D6B-273FD8E78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1" y="1380272"/>
            <a:ext cx="3459758" cy="508257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BA643FE-43F7-B78A-B34C-FF47328C568C}"/>
              </a:ext>
            </a:extLst>
          </p:cNvPr>
          <p:cNvCxnSpPr/>
          <p:nvPr/>
        </p:nvCxnSpPr>
        <p:spPr>
          <a:xfrm>
            <a:off x="4415883" y="3598127"/>
            <a:ext cx="74341" cy="1092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C484A1A-0036-D49D-6D93-C40DD3C5A7F5}"/>
              </a:ext>
            </a:extLst>
          </p:cNvPr>
          <p:cNvCxnSpPr>
            <a:cxnSpLocks/>
          </p:cNvCxnSpPr>
          <p:nvPr/>
        </p:nvCxnSpPr>
        <p:spPr>
          <a:xfrm flipV="1">
            <a:off x="7062439" y="4690946"/>
            <a:ext cx="215590" cy="18019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7D69239-A600-8E64-06B2-CC2157942847}"/>
              </a:ext>
            </a:extLst>
          </p:cNvPr>
          <p:cNvSpPr txBox="1"/>
          <p:nvPr/>
        </p:nvSpPr>
        <p:spPr>
          <a:xfrm>
            <a:off x="6861717" y="6443719"/>
            <a:ext cx="512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endParaRPr lang="zh-CN" altLang="en-US" sz="2800" b="1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07E74BF-04D1-0965-38CD-F8F737FB0D7A}"/>
              </a:ext>
            </a:extLst>
          </p:cNvPr>
          <p:cNvCxnSpPr/>
          <p:nvPr/>
        </p:nvCxnSpPr>
        <p:spPr>
          <a:xfrm>
            <a:off x="6096000" y="2653990"/>
            <a:ext cx="520390" cy="6393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5DF0E4F-CA45-E1FA-18A5-307DB6E9EAD4}"/>
              </a:ext>
            </a:extLst>
          </p:cNvPr>
          <p:cNvSpPr txBox="1"/>
          <p:nvPr/>
        </p:nvSpPr>
        <p:spPr>
          <a:xfrm>
            <a:off x="5880410" y="2257375"/>
            <a:ext cx="386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4</a:t>
            </a:r>
            <a:endParaRPr lang="zh-CN" altLang="en-US" sz="2800" b="1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7D776A3-0474-B500-352F-511971647EEB}"/>
              </a:ext>
            </a:extLst>
          </p:cNvPr>
          <p:cNvCxnSpPr>
            <a:cxnSpLocks/>
          </p:cNvCxnSpPr>
          <p:nvPr/>
        </p:nvCxnSpPr>
        <p:spPr>
          <a:xfrm flipH="1" flipV="1">
            <a:off x="8370849" y="5060273"/>
            <a:ext cx="512956" cy="1383446"/>
          </a:xfrm>
          <a:prstGeom prst="straightConnector1">
            <a:avLst/>
          </a:prstGeom>
          <a:ln w="38100">
            <a:solidFill>
              <a:srgbClr val="383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9C1D050-DF59-D8E2-E7D3-C1A3947F39BB}"/>
              </a:ext>
            </a:extLst>
          </p:cNvPr>
          <p:cNvSpPr txBox="1"/>
          <p:nvPr/>
        </p:nvSpPr>
        <p:spPr>
          <a:xfrm>
            <a:off x="8727687" y="6334780"/>
            <a:ext cx="512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endParaRPr lang="zh-CN" altLang="en-US" sz="2800" b="1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9587132-6CD9-9788-B444-ACF4992D2565}"/>
              </a:ext>
            </a:extLst>
          </p:cNvPr>
          <p:cNvCxnSpPr/>
          <p:nvPr/>
        </p:nvCxnSpPr>
        <p:spPr>
          <a:xfrm flipH="1" flipV="1">
            <a:off x="10482146" y="2618234"/>
            <a:ext cx="495208" cy="19165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382DE1DF-5E43-EEF9-723D-FD712A0A7B42}"/>
              </a:ext>
            </a:extLst>
          </p:cNvPr>
          <p:cNvSpPr txBox="1"/>
          <p:nvPr/>
        </p:nvSpPr>
        <p:spPr>
          <a:xfrm>
            <a:off x="10846420" y="4429336"/>
            <a:ext cx="507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6</a:t>
            </a:r>
            <a:endParaRPr lang="zh-CN" altLang="en-US" sz="2800" b="1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CE35218-763F-8525-812D-B26667702CE1}"/>
              </a:ext>
            </a:extLst>
          </p:cNvPr>
          <p:cNvCxnSpPr/>
          <p:nvPr/>
        </p:nvCxnSpPr>
        <p:spPr>
          <a:xfrm>
            <a:off x="5432060" y="2988527"/>
            <a:ext cx="401444" cy="1073347"/>
          </a:xfrm>
          <a:prstGeom prst="straightConnector1">
            <a:avLst/>
          </a:prstGeom>
          <a:ln w="38100">
            <a:solidFill>
              <a:srgbClr val="383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DC3A3C3-BF0C-6551-DBA8-54C8B1990F40}"/>
              </a:ext>
            </a:extLst>
          </p:cNvPr>
          <p:cNvSpPr txBox="1"/>
          <p:nvPr/>
        </p:nvSpPr>
        <p:spPr>
          <a:xfrm>
            <a:off x="5241074" y="2592214"/>
            <a:ext cx="646770" cy="542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5</a:t>
            </a:r>
            <a:endParaRPr lang="zh-CN" altLang="en-US" sz="2800" b="1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BE7A271-74E4-E250-3FE7-4C357FF3D218}"/>
              </a:ext>
            </a:extLst>
          </p:cNvPr>
          <p:cNvCxnSpPr>
            <a:cxnSpLocks/>
          </p:cNvCxnSpPr>
          <p:nvPr/>
        </p:nvCxnSpPr>
        <p:spPr>
          <a:xfrm flipV="1">
            <a:off x="6424124" y="5060273"/>
            <a:ext cx="80755" cy="14326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9EE9764-94C8-BD18-7D69-150F3B7E6A6E}"/>
              </a:ext>
            </a:extLst>
          </p:cNvPr>
          <p:cNvSpPr txBox="1"/>
          <p:nvPr/>
        </p:nvSpPr>
        <p:spPr>
          <a:xfrm>
            <a:off x="6234044" y="6381687"/>
            <a:ext cx="471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endParaRPr lang="zh-CN" altLang="en-US" sz="2800" b="1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D8763B8-61B1-C179-B016-D0DF08F37ADA}"/>
              </a:ext>
            </a:extLst>
          </p:cNvPr>
          <p:cNvCxnSpPr>
            <a:cxnSpLocks/>
          </p:cNvCxnSpPr>
          <p:nvPr/>
        </p:nvCxnSpPr>
        <p:spPr>
          <a:xfrm>
            <a:off x="4925923" y="3142012"/>
            <a:ext cx="605663" cy="919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7CE24458-E33C-9D6C-613D-976B822A3BB8}"/>
              </a:ext>
            </a:extLst>
          </p:cNvPr>
          <p:cNvSpPr txBox="1"/>
          <p:nvPr/>
        </p:nvSpPr>
        <p:spPr>
          <a:xfrm>
            <a:off x="4663508" y="2764795"/>
            <a:ext cx="302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9</a:t>
            </a:r>
            <a:endParaRPr lang="zh-CN" altLang="en-US" sz="2800" b="1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2861E0E-43A2-397C-32E9-7CA0BAA06735}"/>
              </a:ext>
            </a:extLst>
          </p:cNvPr>
          <p:cNvCxnSpPr>
            <a:cxnSpLocks/>
          </p:cNvCxnSpPr>
          <p:nvPr/>
        </p:nvCxnSpPr>
        <p:spPr>
          <a:xfrm>
            <a:off x="8193150" y="2344561"/>
            <a:ext cx="348684" cy="514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7826CC5-98AD-9396-C118-ACD09A147564}"/>
              </a:ext>
            </a:extLst>
          </p:cNvPr>
          <p:cNvSpPr txBox="1"/>
          <p:nvPr/>
        </p:nvSpPr>
        <p:spPr>
          <a:xfrm>
            <a:off x="7851540" y="1977025"/>
            <a:ext cx="63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7</a:t>
            </a:r>
            <a:endParaRPr lang="zh-CN" altLang="en-US" sz="28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A96A525-E83A-E434-3793-7F289AD5FFA0}"/>
              </a:ext>
            </a:extLst>
          </p:cNvPr>
          <p:cNvSpPr txBox="1"/>
          <p:nvPr/>
        </p:nvSpPr>
        <p:spPr>
          <a:xfrm>
            <a:off x="4219761" y="3207724"/>
            <a:ext cx="466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8</a:t>
            </a:r>
            <a:endParaRPr lang="zh-CN" altLang="en-US" sz="2800" b="1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616E55F-9D39-E8F5-8D77-3165E5F8AC08}"/>
              </a:ext>
            </a:extLst>
          </p:cNvPr>
          <p:cNvCxnSpPr/>
          <p:nvPr/>
        </p:nvCxnSpPr>
        <p:spPr>
          <a:xfrm>
            <a:off x="9069659" y="1743968"/>
            <a:ext cx="253086" cy="7750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4AF9A7D-4BE6-EEEA-C028-B0FEBCA9205E}"/>
              </a:ext>
            </a:extLst>
          </p:cNvPr>
          <p:cNvSpPr txBox="1"/>
          <p:nvPr/>
        </p:nvSpPr>
        <p:spPr>
          <a:xfrm>
            <a:off x="8727687" y="1329687"/>
            <a:ext cx="828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10</a:t>
            </a:r>
            <a:endParaRPr lang="zh-CN" altLang="en-US" sz="2800" b="1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84477BB-CC4C-5408-3105-8994F97DF7D1}"/>
              </a:ext>
            </a:extLst>
          </p:cNvPr>
          <p:cNvCxnSpPr>
            <a:cxnSpLocks/>
          </p:cNvCxnSpPr>
          <p:nvPr/>
        </p:nvCxnSpPr>
        <p:spPr>
          <a:xfrm>
            <a:off x="10623395" y="1313510"/>
            <a:ext cx="217357" cy="8179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304EB411-EB63-B6B4-C17E-2AF8F18FB55A}"/>
              </a:ext>
            </a:extLst>
          </p:cNvPr>
          <p:cNvSpPr txBox="1"/>
          <p:nvPr/>
        </p:nvSpPr>
        <p:spPr>
          <a:xfrm>
            <a:off x="10289939" y="895783"/>
            <a:ext cx="828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11</a:t>
            </a:r>
            <a:endParaRPr lang="zh-CN" altLang="en-US" sz="2800" b="1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EDA8C2E-8FB5-464D-865E-6F49B5E28427}"/>
              </a:ext>
            </a:extLst>
          </p:cNvPr>
          <p:cNvCxnSpPr/>
          <p:nvPr/>
        </p:nvCxnSpPr>
        <p:spPr>
          <a:xfrm>
            <a:off x="9687019" y="1591297"/>
            <a:ext cx="386251" cy="683710"/>
          </a:xfrm>
          <a:prstGeom prst="straightConnector1">
            <a:avLst/>
          </a:prstGeom>
          <a:ln w="38100">
            <a:solidFill>
              <a:srgbClr val="383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33A672F-1143-764E-B596-379222E70655}"/>
              </a:ext>
            </a:extLst>
          </p:cNvPr>
          <p:cNvSpPr txBox="1"/>
          <p:nvPr/>
        </p:nvSpPr>
        <p:spPr>
          <a:xfrm>
            <a:off x="9421907" y="1152355"/>
            <a:ext cx="916473" cy="53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12</a:t>
            </a:r>
            <a:endParaRPr lang="zh-CN" altLang="en-US" sz="2800" b="1" dirty="0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0238CFB3-CB17-D33C-A319-A08280CD1294}"/>
              </a:ext>
            </a:extLst>
          </p:cNvPr>
          <p:cNvCxnSpPr/>
          <p:nvPr/>
        </p:nvCxnSpPr>
        <p:spPr>
          <a:xfrm>
            <a:off x="9215476" y="1027906"/>
            <a:ext cx="249195" cy="1491079"/>
          </a:xfrm>
          <a:prstGeom prst="straightConnector1">
            <a:avLst/>
          </a:prstGeom>
          <a:ln w="38100">
            <a:solidFill>
              <a:srgbClr val="383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13CA53A1-A4CD-702A-F98F-9EA57DF68059}"/>
              </a:ext>
            </a:extLst>
          </p:cNvPr>
          <p:cNvSpPr txBox="1"/>
          <p:nvPr/>
        </p:nvSpPr>
        <p:spPr>
          <a:xfrm>
            <a:off x="8883805" y="581919"/>
            <a:ext cx="788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15</a:t>
            </a:r>
            <a:endParaRPr lang="zh-CN" altLang="en-US" sz="2800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76F3FCF-F440-4BBB-2DA1-B1C0A2D7A815}"/>
              </a:ext>
            </a:extLst>
          </p:cNvPr>
          <p:cNvCxnSpPr/>
          <p:nvPr/>
        </p:nvCxnSpPr>
        <p:spPr>
          <a:xfrm flipH="1" flipV="1">
            <a:off x="7374673" y="5435917"/>
            <a:ext cx="252434" cy="103769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0F79F552-A705-6BC6-B058-E966B2127DCB}"/>
              </a:ext>
            </a:extLst>
          </p:cNvPr>
          <p:cNvSpPr txBox="1"/>
          <p:nvPr/>
        </p:nvSpPr>
        <p:spPr>
          <a:xfrm>
            <a:off x="7501055" y="6443719"/>
            <a:ext cx="63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14</a:t>
            </a:r>
            <a:endParaRPr lang="zh-CN" altLang="en-US" sz="28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E7EE78-DC60-C5C6-18BF-6B076EA47FEB}"/>
              </a:ext>
            </a:extLst>
          </p:cNvPr>
          <p:cNvSpPr txBox="1"/>
          <p:nvPr/>
        </p:nvSpPr>
        <p:spPr>
          <a:xfrm>
            <a:off x="-6717335" y="7422871"/>
            <a:ext cx="4668252" cy="3423235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D833B7-BCB1-3812-2CE5-5DD49A91CC54}"/>
              </a:ext>
            </a:extLst>
          </p:cNvPr>
          <p:cNvSpPr txBox="1"/>
          <p:nvPr/>
        </p:nvSpPr>
        <p:spPr>
          <a:xfrm>
            <a:off x="3501130" y="281750"/>
            <a:ext cx="5465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本设计弹簧，电磁铁，核心件，销钉均使用标准件。</a:t>
            </a:r>
          </a:p>
          <a:p>
            <a:endParaRPr lang="zh-CN" altLang="en-US" sz="32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FD1FE2D-C880-4FB5-CDA9-E4E78C4C2F09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E246E27-0C31-3BD6-4FC6-1B5536D60501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CCFF315-EE15-CC47-7F93-3CD6F8EC4A9F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7BE94A0-ECC4-2198-E3A8-25E19B6EE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5" name="标题 1">
              <a:extLst>
                <a:ext uri="{FF2B5EF4-FFF2-40B4-BE49-F238E27FC236}">
                  <a16:creationId xmlns:a16="http://schemas.microsoft.com/office/drawing/2014/main" id="{7CD88892-F11A-5BA3-AE4C-9538D1AC6629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82D6B3A-F3DD-07F0-0C30-8D1674468174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E0F0BE3-EE1B-3A40-ED34-08700C1D2066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9" name="内容占位符 4">
              <a:extLst>
                <a:ext uri="{FF2B5EF4-FFF2-40B4-BE49-F238E27FC236}">
                  <a16:creationId xmlns:a16="http://schemas.microsoft.com/office/drawing/2014/main" id="{A5932D6D-2730-6C46-5AB6-85CB94D66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20" name="标题 1">
              <a:extLst>
                <a:ext uri="{FF2B5EF4-FFF2-40B4-BE49-F238E27FC236}">
                  <a16:creationId xmlns:a16="http://schemas.microsoft.com/office/drawing/2014/main" id="{CE997FC4-DE9A-5D78-D3A2-C9811A752688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02E5C73-B699-3D07-243A-5BDA0707EFAE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90CD245-FA04-92C8-3D56-B46BEC8FA1B8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7A8B8F6F-067D-AECA-D219-DBE54098F322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DDD9287B-A3A6-BE37-EB28-2240B7CF4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B84C63A-F3C3-39BB-21F9-E649A50A6692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C80913A-CD17-808D-AFC8-79BED0F00CB0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C82808A1-1931-5554-0D68-625352A1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37" name="标题 1">
              <a:extLst>
                <a:ext uri="{FF2B5EF4-FFF2-40B4-BE49-F238E27FC236}">
                  <a16:creationId xmlns:a16="http://schemas.microsoft.com/office/drawing/2014/main" id="{321FE779-E4DB-9801-996B-D4C55CF46078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BB456E2E-CA89-5BE2-7EE4-477A52DE1A54}"/>
              </a:ext>
            </a:extLst>
          </p:cNvPr>
          <p:cNvSpPr txBox="1"/>
          <p:nvPr/>
        </p:nvSpPr>
        <p:spPr>
          <a:xfrm>
            <a:off x="-6751329" y="8192528"/>
            <a:ext cx="4668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电磁铁放置法兰盘内</a:t>
            </a:r>
            <a:endParaRPr lang="en-US" altLang="zh-CN" sz="3600" dirty="0">
              <a:solidFill>
                <a:schemeClr val="bg1"/>
              </a:solidFill>
            </a:endParaRPr>
          </a:p>
          <a:p>
            <a:endParaRPr lang="en-US" altLang="zh-CN" sz="3600" dirty="0">
              <a:solidFill>
                <a:schemeClr val="bg1"/>
              </a:solidFill>
            </a:endParaRPr>
          </a:p>
          <a:p>
            <a:r>
              <a:rPr lang="zh-CN" altLang="en-US" sz="3600" dirty="0">
                <a:solidFill>
                  <a:schemeClr val="bg1"/>
                </a:solidFill>
              </a:rPr>
              <a:t>节省空间减小厚度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B6A56B4-AE22-926D-6338-9968A678E1BE}"/>
              </a:ext>
            </a:extLst>
          </p:cNvPr>
          <p:cNvCxnSpPr>
            <a:cxnSpLocks/>
          </p:cNvCxnSpPr>
          <p:nvPr/>
        </p:nvCxnSpPr>
        <p:spPr>
          <a:xfrm flipV="1">
            <a:off x="-2377851" y="7934336"/>
            <a:ext cx="4343400" cy="1162050"/>
          </a:xfrm>
          <a:prstGeom prst="straightConnector1">
            <a:avLst/>
          </a:prstGeom>
          <a:ln w="114300">
            <a:solidFill>
              <a:schemeClr val="tx1"/>
            </a:solidFill>
            <a:tailEnd type="triangle"/>
          </a:ln>
          <a:effectLst>
            <a:glow rad="2286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000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23DA5-21A0-9473-8B25-67C8263B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B276393-9055-57CB-C24F-A9D214019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161113"/>
            <a:ext cx="26008987" cy="16965664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6ED7DE-DE41-98A5-F760-A274C917BAE7}"/>
              </a:ext>
            </a:extLst>
          </p:cNvPr>
          <p:cNvSpPr txBox="1"/>
          <p:nvPr/>
        </p:nvSpPr>
        <p:spPr>
          <a:xfrm>
            <a:off x="838200" y="1690688"/>
            <a:ext cx="4668252" cy="3423235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113666-BD4E-741B-DE39-8DFA78BD62D8}"/>
              </a:ext>
            </a:extLst>
          </p:cNvPr>
          <p:cNvSpPr txBox="1"/>
          <p:nvPr/>
        </p:nvSpPr>
        <p:spPr>
          <a:xfrm>
            <a:off x="1151022" y="2525142"/>
            <a:ext cx="4668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电磁铁放置法兰盘内</a:t>
            </a:r>
            <a:endParaRPr lang="en-US" altLang="zh-CN" sz="3600" dirty="0">
              <a:solidFill>
                <a:schemeClr val="bg1"/>
              </a:solidFill>
            </a:endParaRPr>
          </a:p>
          <a:p>
            <a:endParaRPr lang="en-US" altLang="zh-CN" sz="3600" dirty="0">
              <a:solidFill>
                <a:schemeClr val="bg1"/>
              </a:solidFill>
            </a:endParaRPr>
          </a:p>
          <a:p>
            <a:r>
              <a:rPr lang="zh-CN" altLang="en-US" sz="3600" dirty="0">
                <a:solidFill>
                  <a:schemeClr val="bg1"/>
                </a:solidFill>
              </a:rPr>
              <a:t>节省空间减小厚度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2507A12-704A-B301-ED8D-A4C56434A656}"/>
              </a:ext>
            </a:extLst>
          </p:cNvPr>
          <p:cNvCxnSpPr>
            <a:cxnSpLocks/>
          </p:cNvCxnSpPr>
          <p:nvPr/>
        </p:nvCxnSpPr>
        <p:spPr>
          <a:xfrm flipV="1">
            <a:off x="5524500" y="2266950"/>
            <a:ext cx="4343400" cy="1162050"/>
          </a:xfrm>
          <a:prstGeom prst="straightConnector1">
            <a:avLst/>
          </a:prstGeom>
          <a:ln w="114300">
            <a:solidFill>
              <a:schemeClr val="tx1"/>
            </a:solidFill>
            <a:tailEnd type="triangle"/>
          </a:ln>
          <a:effectLst>
            <a:glow rad="2286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7DD37FB2-6530-1165-1071-7115AF38EE99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</p:spTree>
    <p:extLst>
      <p:ext uri="{BB962C8B-B14F-4D97-AF65-F5344CB8AC3E}">
        <p14:creationId xmlns:p14="http://schemas.microsoft.com/office/powerpoint/2010/main" val="182467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40B6-753A-5D1B-399E-27B7FDAB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E33DE-8779-48AA-F7BB-CC4904E3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47A687A-B5D3-0B84-C403-410F54E1A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22707" y="-4397609"/>
            <a:ext cx="26008987" cy="16965664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0E1A3F-E01F-B51D-E4E1-EB7711E49EE2}"/>
              </a:ext>
            </a:extLst>
          </p:cNvPr>
          <p:cNvSpPr txBox="1"/>
          <p:nvPr/>
        </p:nvSpPr>
        <p:spPr>
          <a:xfrm>
            <a:off x="994611" y="1690688"/>
            <a:ext cx="4668252" cy="3423235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1D977B-A9CF-7984-F0CF-936D0EB7518A}"/>
              </a:ext>
            </a:extLst>
          </p:cNvPr>
          <p:cNvSpPr txBox="1"/>
          <p:nvPr/>
        </p:nvSpPr>
        <p:spPr>
          <a:xfrm>
            <a:off x="1151022" y="2525142"/>
            <a:ext cx="4668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多层零件使用长销钉一体固定，</a:t>
            </a:r>
            <a:endParaRPr lang="en-US" altLang="zh-CN" sz="3600" dirty="0">
              <a:solidFill>
                <a:schemeClr val="bg1"/>
              </a:solidFill>
            </a:endParaRPr>
          </a:p>
          <a:p>
            <a:r>
              <a:rPr lang="zh-CN" altLang="en-US" sz="3600" dirty="0">
                <a:solidFill>
                  <a:schemeClr val="bg1"/>
                </a:solidFill>
              </a:rPr>
              <a:t>装配精度更高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705C112-8590-FC30-A967-CC0E489B062C}"/>
              </a:ext>
            </a:extLst>
          </p:cNvPr>
          <p:cNvCxnSpPr>
            <a:cxnSpLocks/>
          </p:cNvCxnSpPr>
          <p:nvPr/>
        </p:nvCxnSpPr>
        <p:spPr>
          <a:xfrm>
            <a:off x="5524500" y="3429000"/>
            <a:ext cx="2705100" cy="2495550"/>
          </a:xfrm>
          <a:prstGeom prst="straightConnector1">
            <a:avLst/>
          </a:prstGeom>
          <a:ln w="114300">
            <a:solidFill>
              <a:schemeClr val="tx1"/>
            </a:solidFill>
            <a:tailEnd type="triangle"/>
          </a:ln>
          <a:effectLst>
            <a:glow rad="2286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F74B4B45-7B61-2DEE-742C-E8DBE8DAD837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</p:spTree>
    <p:extLst>
      <p:ext uri="{BB962C8B-B14F-4D97-AF65-F5344CB8AC3E}">
        <p14:creationId xmlns:p14="http://schemas.microsoft.com/office/powerpoint/2010/main" val="340767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73E9-8798-EE83-2965-FCF13CB1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70D57-6424-7BC6-5F5B-09C4CDCA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DAEAEF7-8091-B7D1-123E-A667CD54D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57800" y="-5311359"/>
            <a:ext cx="26008987" cy="16965664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380E45-AD6F-86D5-6229-13E73C3375B8}"/>
              </a:ext>
            </a:extLst>
          </p:cNvPr>
          <p:cNvSpPr txBox="1"/>
          <p:nvPr/>
        </p:nvSpPr>
        <p:spPr>
          <a:xfrm>
            <a:off x="994611" y="1690688"/>
            <a:ext cx="4668252" cy="3423235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B139FB-D4C2-AD5D-AD9F-4EB49C8223E2}"/>
              </a:ext>
            </a:extLst>
          </p:cNvPr>
          <p:cNvSpPr txBox="1"/>
          <p:nvPr/>
        </p:nvSpPr>
        <p:spPr>
          <a:xfrm>
            <a:off x="1151022" y="2525142"/>
            <a:ext cx="4668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核心件倒圆与挖孔</a:t>
            </a:r>
            <a:endParaRPr lang="en-US" altLang="zh-CN" sz="3600" dirty="0">
              <a:solidFill>
                <a:schemeClr val="bg1"/>
              </a:solidFill>
            </a:endParaRPr>
          </a:p>
          <a:p>
            <a:endParaRPr lang="en-US" altLang="zh-CN" sz="3600" dirty="0">
              <a:solidFill>
                <a:schemeClr val="bg1"/>
              </a:solidFill>
            </a:endParaRPr>
          </a:p>
          <a:p>
            <a:r>
              <a:rPr lang="zh-CN" altLang="en-US" sz="3600" dirty="0">
                <a:solidFill>
                  <a:schemeClr val="bg1"/>
                </a:solidFill>
              </a:rPr>
              <a:t>方便机床加工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3B35193-A0AB-8C16-9670-F4772E41925D}"/>
              </a:ext>
            </a:extLst>
          </p:cNvPr>
          <p:cNvCxnSpPr>
            <a:cxnSpLocks/>
          </p:cNvCxnSpPr>
          <p:nvPr/>
        </p:nvCxnSpPr>
        <p:spPr>
          <a:xfrm flipV="1">
            <a:off x="5524500" y="2724150"/>
            <a:ext cx="2609850" cy="704850"/>
          </a:xfrm>
          <a:prstGeom prst="straightConnector1">
            <a:avLst/>
          </a:prstGeom>
          <a:ln w="114300">
            <a:solidFill>
              <a:schemeClr val="tx1"/>
            </a:solidFill>
            <a:tailEnd type="triangle"/>
          </a:ln>
          <a:effectLst>
            <a:glow rad="2286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39AE4A7A-6681-7FA2-B53E-4BC3AE61C177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</p:spTree>
    <p:extLst>
      <p:ext uri="{BB962C8B-B14F-4D97-AF65-F5344CB8AC3E}">
        <p14:creationId xmlns:p14="http://schemas.microsoft.com/office/powerpoint/2010/main" val="3800814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9BCE-449D-665E-B51C-D739BC5D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2B978-1AEF-C703-967D-C39B415A6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E086FAB-9D54-3DE1-DADF-7E6B71568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147370" y="-3517564"/>
            <a:ext cx="26008987" cy="16965664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44E6E8-3360-2BBC-15AB-276E9F417D22}"/>
              </a:ext>
            </a:extLst>
          </p:cNvPr>
          <p:cNvSpPr txBox="1"/>
          <p:nvPr/>
        </p:nvSpPr>
        <p:spPr>
          <a:xfrm>
            <a:off x="994611" y="1690688"/>
            <a:ext cx="4668252" cy="3423235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62456F-AD37-3804-F92D-CFAF56AD74A6}"/>
              </a:ext>
            </a:extLst>
          </p:cNvPr>
          <p:cNvSpPr txBox="1"/>
          <p:nvPr/>
        </p:nvSpPr>
        <p:spPr>
          <a:xfrm>
            <a:off x="1151022" y="2525142"/>
            <a:ext cx="4668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上下端面连接处使两销一面，</a:t>
            </a:r>
            <a:endParaRPr lang="en-US" altLang="zh-CN" sz="3600" dirty="0">
              <a:solidFill>
                <a:schemeClr val="bg1"/>
              </a:solidFill>
            </a:endParaRPr>
          </a:p>
          <a:p>
            <a:r>
              <a:rPr lang="zh-CN" altLang="en-US" sz="3600" dirty="0">
                <a:solidFill>
                  <a:schemeClr val="bg1"/>
                </a:solidFill>
              </a:rPr>
              <a:t>更加精确，完全定位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98DC522-5963-9F39-DBAB-A92713617C03}"/>
              </a:ext>
            </a:extLst>
          </p:cNvPr>
          <p:cNvCxnSpPr>
            <a:cxnSpLocks/>
          </p:cNvCxnSpPr>
          <p:nvPr/>
        </p:nvCxnSpPr>
        <p:spPr>
          <a:xfrm>
            <a:off x="5524500" y="3429000"/>
            <a:ext cx="2533650" cy="533400"/>
          </a:xfrm>
          <a:prstGeom prst="straightConnector1">
            <a:avLst/>
          </a:prstGeom>
          <a:ln w="114300">
            <a:solidFill>
              <a:schemeClr val="tx1"/>
            </a:solidFill>
            <a:tailEnd type="triangle"/>
          </a:ln>
          <a:effectLst>
            <a:glow rad="2286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69BE13C8-74D9-5216-FC72-B99824649412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76A84E9-4E88-91B9-64E9-79ADC09723F2}"/>
              </a:ext>
            </a:extLst>
          </p:cNvPr>
          <p:cNvGrpSpPr/>
          <p:nvPr/>
        </p:nvGrpSpPr>
        <p:grpSpPr>
          <a:xfrm>
            <a:off x="5278549" y="7115419"/>
            <a:ext cx="6656775" cy="5165640"/>
            <a:chOff x="5278549" y="7115419"/>
            <a:chExt cx="6656775" cy="516564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F53D7A4-3EFC-C4BE-7473-16C9BA487D79}"/>
                </a:ext>
              </a:extLst>
            </p:cNvPr>
            <p:cNvSpPr/>
            <p:nvPr/>
          </p:nvSpPr>
          <p:spPr>
            <a:xfrm>
              <a:off x="5278549" y="7115419"/>
              <a:ext cx="6656775" cy="516564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6BD4251-8E1B-09D0-F136-EB4EE57C3DEE}"/>
                </a:ext>
              </a:extLst>
            </p:cNvPr>
            <p:cNvSpPr txBox="1"/>
            <p:nvPr/>
          </p:nvSpPr>
          <p:spPr>
            <a:xfrm>
              <a:off x="6245840" y="8868502"/>
              <a:ext cx="546531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橙色部分为滑块上下部分</a:t>
              </a:r>
            </a:p>
            <a:p>
              <a:endParaRPr lang="zh-CN" altLang="en-US" sz="3200" dirty="0"/>
            </a:p>
            <a:p>
              <a:r>
                <a:rPr lang="zh-CN" altLang="en-US" sz="3200" dirty="0"/>
                <a:t>接触面积超过</a:t>
              </a:r>
              <a:r>
                <a:rPr lang="en-US" altLang="zh-CN" sz="3200" dirty="0"/>
                <a:t>1</a:t>
              </a:r>
              <a:r>
                <a:rPr lang="zh-CN" altLang="en-US" sz="3200" dirty="0"/>
                <a:t>平方厘米</a:t>
              </a:r>
            </a:p>
            <a:p>
              <a:endParaRPr lang="zh-CN" altLang="en-US" sz="3200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A83C98A-5789-97AF-D234-5C5CFC966811}"/>
              </a:ext>
            </a:extLst>
          </p:cNvPr>
          <p:cNvGrpSpPr/>
          <p:nvPr/>
        </p:nvGrpSpPr>
        <p:grpSpPr>
          <a:xfrm>
            <a:off x="0" y="7115419"/>
            <a:ext cx="5113631" cy="5165640"/>
            <a:chOff x="0" y="7115419"/>
            <a:chExt cx="5113631" cy="516564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9EBE701-2BF6-9C17-FDA3-90D9BE9998DA}"/>
                </a:ext>
              </a:extLst>
            </p:cNvPr>
            <p:cNvSpPr/>
            <p:nvPr/>
          </p:nvSpPr>
          <p:spPr>
            <a:xfrm>
              <a:off x="0" y="7115419"/>
              <a:ext cx="5113631" cy="516564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" name="内容占位符 15">
              <a:extLst>
                <a:ext uri="{FF2B5EF4-FFF2-40B4-BE49-F238E27FC236}">
                  <a16:creationId xmlns:a16="http://schemas.microsoft.com/office/drawing/2014/main" id="{1D304748-7DDE-A917-AE3F-D43EACA35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13329" y="7784340"/>
              <a:ext cx="4086971" cy="3827797"/>
            </a:xfrm>
            <a:prstGeom prst="rect">
              <a:avLst/>
            </a:prstGeom>
            <a:effectLst>
              <a:softEdge rad="177800"/>
            </a:effectLst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ABB1F12-BF10-48DA-B512-11BF784EAAE9}"/>
              </a:ext>
            </a:extLst>
          </p:cNvPr>
          <p:cNvSpPr txBox="1"/>
          <p:nvPr/>
        </p:nvSpPr>
        <p:spPr>
          <a:xfrm>
            <a:off x="3615489" y="-657740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连接可靠性</a:t>
            </a:r>
          </a:p>
        </p:txBody>
      </p:sp>
    </p:spTree>
    <p:extLst>
      <p:ext uri="{BB962C8B-B14F-4D97-AF65-F5344CB8AC3E}">
        <p14:creationId xmlns:p14="http://schemas.microsoft.com/office/powerpoint/2010/main" val="1291693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88824D4-8B81-9536-F9A9-55CAB4058E28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FC00808-92AB-19B1-0181-9FD8DE7C01B2}"/>
              </a:ext>
            </a:extLst>
          </p:cNvPr>
          <p:cNvGrpSpPr/>
          <p:nvPr/>
        </p:nvGrpSpPr>
        <p:grpSpPr>
          <a:xfrm>
            <a:off x="5406887" y="1600920"/>
            <a:ext cx="6656775" cy="5165640"/>
            <a:chOff x="5406887" y="1600920"/>
            <a:chExt cx="6656775" cy="516564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6698785-353F-508C-652B-EBDD646A2350}"/>
                </a:ext>
              </a:extLst>
            </p:cNvPr>
            <p:cNvSpPr/>
            <p:nvPr/>
          </p:nvSpPr>
          <p:spPr>
            <a:xfrm>
              <a:off x="5406887" y="1600920"/>
              <a:ext cx="6656775" cy="516564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1EA514C-5E9B-2028-8B12-B8F2D9F64495}"/>
                </a:ext>
              </a:extLst>
            </p:cNvPr>
            <p:cNvSpPr txBox="1"/>
            <p:nvPr/>
          </p:nvSpPr>
          <p:spPr>
            <a:xfrm>
              <a:off x="6374178" y="3354003"/>
              <a:ext cx="546531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橙色部分为滑块上下部分</a:t>
              </a:r>
            </a:p>
            <a:p>
              <a:endParaRPr lang="zh-CN" altLang="en-US" sz="3200" dirty="0"/>
            </a:p>
            <a:p>
              <a:r>
                <a:rPr lang="zh-CN" altLang="en-US" sz="3200" dirty="0"/>
                <a:t>接触面积超过</a:t>
              </a:r>
              <a:r>
                <a:rPr lang="en-US" altLang="zh-CN" sz="3200" dirty="0"/>
                <a:t>1</a:t>
              </a:r>
              <a:r>
                <a:rPr lang="zh-CN" altLang="en-US" sz="3200" dirty="0"/>
                <a:t>平方厘米</a:t>
              </a:r>
            </a:p>
            <a:p>
              <a:endParaRPr lang="zh-CN" altLang="en-US" sz="3200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DB7E27C-1344-04FA-D5D7-F283AE04030C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连接可靠性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3A2B39-5C0D-1B32-D86E-82950CE9CB41}"/>
              </a:ext>
            </a:extLst>
          </p:cNvPr>
          <p:cNvSpPr/>
          <p:nvPr/>
        </p:nvSpPr>
        <p:spPr>
          <a:xfrm>
            <a:off x="-3522642" y="1600920"/>
            <a:ext cx="3394315" cy="51656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841926-3BE3-DDF6-B705-DE534DD66E23}"/>
              </a:ext>
            </a:extLst>
          </p:cNvPr>
          <p:cNvSpPr txBox="1"/>
          <p:nvPr/>
        </p:nvSpPr>
        <p:spPr>
          <a:xfrm>
            <a:off x="-3191568" y="5780782"/>
            <a:ext cx="27300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单独拿出滑块</a:t>
            </a:r>
          </a:p>
          <a:p>
            <a:endParaRPr lang="zh-CN" altLang="en-US" sz="3200" dirty="0"/>
          </a:p>
        </p:txBody>
      </p:sp>
      <p:pic>
        <p:nvPicPr>
          <p:cNvPr id="23" name="内容占位符 4">
            <a:extLst>
              <a:ext uri="{FF2B5EF4-FFF2-40B4-BE49-F238E27FC236}">
                <a16:creationId xmlns:a16="http://schemas.microsoft.com/office/drawing/2014/main" id="{48786F73-4F4C-1BA4-50CA-DF0E2FE4ABB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12080" y="1819472"/>
            <a:ext cx="3005859" cy="2273782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2E09530-3D55-F53A-18CD-A115BB0854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91568" y="3779068"/>
            <a:ext cx="3005860" cy="1890547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90997EC-9E61-0113-DDD8-2C82A17130E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6178" y="-2192849"/>
            <a:ext cx="4455355" cy="20846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63DEC375-8503-B7F6-8EF7-0D437C652ADE}"/>
              </a:ext>
            </a:extLst>
          </p:cNvPr>
          <p:cNvGrpSpPr/>
          <p:nvPr/>
        </p:nvGrpSpPr>
        <p:grpSpPr>
          <a:xfrm>
            <a:off x="3668725" y="7223421"/>
            <a:ext cx="4452808" cy="2970856"/>
            <a:chOff x="3668725" y="7223421"/>
            <a:chExt cx="4452808" cy="297085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7A4FEFC-7D44-4CA0-49F9-3AA6D5398E9D}"/>
                </a:ext>
              </a:extLst>
            </p:cNvPr>
            <p:cNvSpPr/>
            <p:nvPr/>
          </p:nvSpPr>
          <p:spPr>
            <a:xfrm>
              <a:off x="3668725" y="7223421"/>
              <a:ext cx="4452808" cy="2950972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275765E-CE03-236F-B757-07E674A7DAB9}"/>
                </a:ext>
              </a:extLst>
            </p:cNvPr>
            <p:cNvSpPr txBox="1"/>
            <p:nvPr/>
          </p:nvSpPr>
          <p:spPr>
            <a:xfrm>
              <a:off x="4744028" y="8132174"/>
              <a:ext cx="229965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只研究平行于纸面方向</a:t>
              </a:r>
            </a:p>
            <a:p>
              <a:endParaRPr lang="zh-CN" altLang="en-US" sz="3200" dirty="0"/>
            </a:p>
            <a:p>
              <a:endParaRPr lang="zh-CN" altLang="en-US" sz="3200" dirty="0"/>
            </a:p>
          </p:txBody>
        </p:sp>
      </p:grpSp>
      <p:pic>
        <p:nvPicPr>
          <p:cNvPr id="32" name="内容占位符 4">
            <a:extLst>
              <a:ext uri="{FF2B5EF4-FFF2-40B4-BE49-F238E27FC236}">
                <a16:creationId xmlns:a16="http://schemas.microsoft.com/office/drawing/2014/main" id="{984132F0-B22F-78FD-F545-50A2DE6ACE4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7819" y="-2192850"/>
            <a:ext cx="3785843" cy="20846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A1631B22-B130-3429-D0D7-CF585FA4CA07}"/>
              </a:ext>
            </a:extLst>
          </p:cNvPr>
          <p:cNvGrpSpPr/>
          <p:nvPr/>
        </p:nvGrpSpPr>
        <p:grpSpPr>
          <a:xfrm>
            <a:off x="8277819" y="7225938"/>
            <a:ext cx="3785843" cy="3463297"/>
            <a:chOff x="8277819" y="7225938"/>
            <a:chExt cx="3785843" cy="3463297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9C3F342-BF78-C4A6-F1EB-ED43C3C00CBF}"/>
                </a:ext>
              </a:extLst>
            </p:cNvPr>
            <p:cNvSpPr/>
            <p:nvPr/>
          </p:nvSpPr>
          <p:spPr>
            <a:xfrm>
              <a:off x="8277819" y="7225938"/>
              <a:ext cx="3785843" cy="2950972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81C431C-8E1D-99B1-BE96-F90EE2D98019}"/>
                </a:ext>
              </a:extLst>
            </p:cNvPr>
            <p:cNvSpPr txBox="1"/>
            <p:nvPr/>
          </p:nvSpPr>
          <p:spPr>
            <a:xfrm>
              <a:off x="8894380" y="8134690"/>
              <a:ext cx="273006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向</a:t>
              </a:r>
              <a:r>
                <a:rPr lang="en-US" altLang="zh-CN" sz="3200" dirty="0"/>
                <a:t>4</a:t>
              </a:r>
              <a:r>
                <a:rPr lang="zh-CN" altLang="en-US" sz="3200" dirty="0"/>
                <a:t>个滑块只看一个即可</a:t>
              </a:r>
            </a:p>
            <a:p>
              <a:endParaRPr lang="zh-CN" altLang="en-US" sz="3200" dirty="0"/>
            </a:p>
            <a:p>
              <a:endParaRPr lang="zh-CN" altLang="en-US" sz="3200" dirty="0"/>
            </a:p>
            <a:p>
              <a:endParaRPr lang="zh-CN" altLang="en-US" sz="3200" dirty="0"/>
            </a:p>
          </p:txBody>
        </p:sp>
      </p:grpSp>
      <p:sp>
        <p:nvSpPr>
          <p:cNvPr id="34" name="椭圆 33">
            <a:extLst>
              <a:ext uri="{FF2B5EF4-FFF2-40B4-BE49-F238E27FC236}">
                <a16:creationId xmlns:a16="http://schemas.microsoft.com/office/drawing/2014/main" id="{FB678F34-048A-8844-8973-50B73F1ACBF2}"/>
              </a:ext>
            </a:extLst>
          </p:cNvPr>
          <p:cNvSpPr/>
          <p:nvPr/>
        </p:nvSpPr>
        <p:spPr>
          <a:xfrm>
            <a:off x="11477168" y="-1345844"/>
            <a:ext cx="427850" cy="46672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AECACD9-4A48-168A-7D80-3B83EC0AD47C}"/>
              </a:ext>
            </a:extLst>
          </p:cNvPr>
          <p:cNvGrpSpPr/>
          <p:nvPr/>
        </p:nvGrpSpPr>
        <p:grpSpPr>
          <a:xfrm>
            <a:off x="128338" y="1600920"/>
            <a:ext cx="5113631" cy="5165640"/>
            <a:chOff x="0" y="7115419"/>
            <a:chExt cx="5113631" cy="516564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2967BE7-C95E-D775-ABE1-E5C87464F4B7}"/>
                </a:ext>
              </a:extLst>
            </p:cNvPr>
            <p:cNvSpPr/>
            <p:nvPr/>
          </p:nvSpPr>
          <p:spPr>
            <a:xfrm>
              <a:off x="0" y="7115419"/>
              <a:ext cx="5113631" cy="516564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0" name="内容占位符 15">
              <a:extLst>
                <a:ext uri="{FF2B5EF4-FFF2-40B4-BE49-F238E27FC236}">
                  <a16:creationId xmlns:a16="http://schemas.microsoft.com/office/drawing/2014/main" id="{59DC1AEA-DFA9-18BA-5895-9C7DF66C5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13329" y="7784340"/>
              <a:ext cx="4086971" cy="3827797"/>
            </a:xfrm>
            <a:prstGeom prst="rect">
              <a:avLst/>
            </a:prstGeom>
            <a:effectLst>
              <a:softEdge rad="177800"/>
            </a:effectLst>
          </p:spPr>
        </p:pic>
      </p:grpSp>
    </p:spTree>
    <p:extLst>
      <p:ext uri="{BB962C8B-B14F-4D97-AF65-F5344CB8AC3E}">
        <p14:creationId xmlns:p14="http://schemas.microsoft.com/office/powerpoint/2010/main" val="3411869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4232-1AA8-B2FA-2B5E-26797C04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BD9CC0-7BBC-B096-E6FF-F0F2F43DCC09}"/>
              </a:ext>
            </a:extLst>
          </p:cNvPr>
          <p:cNvSpPr/>
          <p:nvPr/>
        </p:nvSpPr>
        <p:spPr>
          <a:xfrm>
            <a:off x="128338" y="1600920"/>
            <a:ext cx="3394315" cy="51656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365B3E9-55A6-EE90-AFE2-73D6F2B7C952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15D4CB-0C4C-8809-BC7D-DC50C9ED339B}"/>
              </a:ext>
            </a:extLst>
          </p:cNvPr>
          <p:cNvSpPr txBox="1"/>
          <p:nvPr/>
        </p:nvSpPr>
        <p:spPr>
          <a:xfrm>
            <a:off x="459412" y="5780782"/>
            <a:ext cx="27300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单独拿出滑块</a:t>
            </a:r>
          </a:p>
          <a:p>
            <a:endParaRPr lang="zh-CN" altLang="en-US" sz="3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9B0C10-DA7F-9EB3-804D-F4EC3957FBE6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松脱可靠性计算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22F4F9-27A2-2ADA-E825-793AAB5BF35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900" y="1819472"/>
            <a:ext cx="3005859" cy="2273782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5A7523-72B2-3BC2-BD18-0A451C59495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412" y="3779067"/>
            <a:ext cx="3005860" cy="1890547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FACC2F-C229-E0CD-F20E-A8272705C4B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3631" y="1600920"/>
            <a:ext cx="4455355" cy="20846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AB17B93E-EF6F-1C26-A1B2-0D25203DF16C}"/>
              </a:ext>
            </a:extLst>
          </p:cNvPr>
          <p:cNvGrpSpPr/>
          <p:nvPr/>
        </p:nvGrpSpPr>
        <p:grpSpPr>
          <a:xfrm>
            <a:off x="3666178" y="3815588"/>
            <a:ext cx="4452808" cy="2970856"/>
            <a:chOff x="3666178" y="3815588"/>
            <a:chExt cx="4452808" cy="297085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2B80BB1-BD42-2727-27EF-8CB5DA375300}"/>
                </a:ext>
              </a:extLst>
            </p:cNvPr>
            <p:cNvSpPr/>
            <p:nvPr/>
          </p:nvSpPr>
          <p:spPr>
            <a:xfrm>
              <a:off x="3666178" y="3815588"/>
              <a:ext cx="4452808" cy="2950972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58B7924-3EE7-7251-67F5-A12400FE8F06}"/>
                </a:ext>
              </a:extLst>
            </p:cNvPr>
            <p:cNvSpPr txBox="1"/>
            <p:nvPr/>
          </p:nvSpPr>
          <p:spPr>
            <a:xfrm>
              <a:off x="4741481" y="4724341"/>
              <a:ext cx="229965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只研究平行于纸面方向</a:t>
              </a:r>
            </a:p>
            <a:p>
              <a:endParaRPr lang="zh-CN" altLang="en-US" sz="3200" dirty="0"/>
            </a:p>
            <a:p>
              <a:endParaRPr lang="zh-CN" altLang="en-US" sz="3200" dirty="0"/>
            </a:p>
          </p:txBody>
        </p:sp>
      </p:grpSp>
      <p:pic>
        <p:nvPicPr>
          <p:cNvPr id="18" name="内容占位符 4">
            <a:extLst>
              <a:ext uri="{FF2B5EF4-FFF2-40B4-BE49-F238E27FC236}">
                <a16:creationId xmlns:a16="http://schemas.microsoft.com/office/drawing/2014/main" id="{A572A51B-BABE-2ADD-ABBA-576D5C0A8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7819" y="1600919"/>
            <a:ext cx="3785843" cy="208461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0EE73DB6-5A99-37E3-BE90-5E0A96D3D5E4}"/>
              </a:ext>
            </a:extLst>
          </p:cNvPr>
          <p:cNvGrpSpPr/>
          <p:nvPr/>
        </p:nvGrpSpPr>
        <p:grpSpPr>
          <a:xfrm>
            <a:off x="8277819" y="3815589"/>
            <a:ext cx="3785843" cy="3463297"/>
            <a:chOff x="8277819" y="3815589"/>
            <a:chExt cx="3785843" cy="346329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914889-CCD7-E329-585D-22B7BFFDFDC6}"/>
                </a:ext>
              </a:extLst>
            </p:cNvPr>
            <p:cNvSpPr/>
            <p:nvPr/>
          </p:nvSpPr>
          <p:spPr>
            <a:xfrm>
              <a:off x="8277819" y="3815589"/>
              <a:ext cx="3785843" cy="2950972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81D4A66-9EEF-3CA6-6ED2-B3C5550C703F}"/>
                </a:ext>
              </a:extLst>
            </p:cNvPr>
            <p:cNvSpPr txBox="1"/>
            <p:nvPr/>
          </p:nvSpPr>
          <p:spPr>
            <a:xfrm>
              <a:off x="8894380" y="4724341"/>
              <a:ext cx="273006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向</a:t>
              </a:r>
              <a:r>
                <a:rPr lang="en-US" altLang="zh-CN" sz="3200" dirty="0"/>
                <a:t>4</a:t>
              </a:r>
              <a:r>
                <a:rPr lang="zh-CN" altLang="en-US" sz="3200" dirty="0"/>
                <a:t>个滑块只看一个即可</a:t>
              </a:r>
            </a:p>
            <a:p>
              <a:endParaRPr lang="zh-CN" altLang="en-US" sz="3200" dirty="0"/>
            </a:p>
            <a:p>
              <a:endParaRPr lang="zh-CN" altLang="en-US" sz="3200" dirty="0"/>
            </a:p>
            <a:p>
              <a:endParaRPr lang="zh-CN" altLang="en-US" sz="3200" dirty="0"/>
            </a:p>
          </p:txBody>
        </p:sp>
      </p:grpSp>
      <p:sp>
        <p:nvSpPr>
          <p:cNvPr id="22" name="椭圆 21">
            <a:extLst>
              <a:ext uri="{FF2B5EF4-FFF2-40B4-BE49-F238E27FC236}">
                <a16:creationId xmlns:a16="http://schemas.microsoft.com/office/drawing/2014/main" id="{DC48CAA1-7989-0621-AFA0-4D4D0894E35E}"/>
              </a:ext>
            </a:extLst>
          </p:cNvPr>
          <p:cNvSpPr/>
          <p:nvPr/>
        </p:nvSpPr>
        <p:spPr>
          <a:xfrm>
            <a:off x="11477168" y="2447925"/>
            <a:ext cx="427850" cy="46672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015C63-C2B7-E7E4-8821-AD0F191EBE79}"/>
              </a:ext>
            </a:extLst>
          </p:cNvPr>
          <p:cNvSpPr txBox="1"/>
          <p:nvPr/>
        </p:nvSpPr>
        <p:spPr>
          <a:xfrm>
            <a:off x="6245840" y="8868502"/>
            <a:ext cx="54653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橙色部分为滑块上下部分</a:t>
            </a:r>
          </a:p>
          <a:p>
            <a:endParaRPr lang="zh-CN" altLang="en-US" sz="3200" dirty="0"/>
          </a:p>
          <a:p>
            <a:r>
              <a:rPr lang="zh-CN" altLang="en-US" sz="3200" dirty="0"/>
              <a:t>接触面积超过</a:t>
            </a:r>
            <a:r>
              <a:rPr lang="en-US" altLang="zh-CN" sz="3200" dirty="0"/>
              <a:t>1</a:t>
            </a:r>
            <a:r>
              <a:rPr lang="zh-CN" altLang="en-US" sz="3200" dirty="0"/>
              <a:t>平方厘米</a:t>
            </a:r>
          </a:p>
          <a:p>
            <a:endParaRPr lang="zh-CN" altLang="en-US" sz="3200" dirty="0"/>
          </a:p>
        </p:txBody>
      </p:sp>
      <p:pic>
        <p:nvPicPr>
          <p:cNvPr id="29" name="内容占位符 3">
            <a:extLst>
              <a:ext uri="{FF2B5EF4-FFF2-40B4-BE49-F238E27FC236}">
                <a16:creationId xmlns:a16="http://schemas.microsoft.com/office/drawing/2014/main" id="{2A82F94D-9E5A-7096-CD4D-537056A111F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6828" y="1600919"/>
            <a:ext cx="4383291" cy="155213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67B6EB96-9B38-757F-851B-0AC9CC7EF0A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530193" y="1600919"/>
            <a:ext cx="7440494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78925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EE64-DB3D-D001-C94F-A96E603B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F226EAE-A504-A124-E94B-E3DC47EF197E}"/>
              </a:ext>
            </a:extLst>
          </p:cNvPr>
          <p:cNvSpPr/>
          <p:nvPr/>
        </p:nvSpPr>
        <p:spPr>
          <a:xfrm>
            <a:off x="128338" y="3205258"/>
            <a:ext cx="4383291" cy="356130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61DDBD0-6F96-38B0-882D-6854E7A3346E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零件细览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67A51B-F492-B057-0C7B-88CA2B006F20}"/>
              </a:ext>
            </a:extLst>
          </p:cNvPr>
          <p:cNvSpPr txBox="1"/>
          <p:nvPr/>
        </p:nvSpPr>
        <p:spPr>
          <a:xfrm>
            <a:off x="239876" y="3492745"/>
            <a:ext cx="416021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/>
          </a:p>
          <a:p>
            <a:r>
              <a:rPr lang="zh-CN" altLang="en-US" sz="2800" dirty="0"/>
              <a:t>已知电磁铁吸力为</a:t>
            </a:r>
            <a:r>
              <a:rPr lang="en-US" altLang="zh-CN" sz="2800" dirty="0"/>
              <a:t>30N</a:t>
            </a:r>
          </a:p>
          <a:p>
            <a:r>
              <a:rPr lang="zh-CN" altLang="en-US" sz="2800" dirty="0"/>
              <a:t>查询到金属间</a:t>
            </a:r>
            <a:r>
              <a:rPr lang="en-US" altLang="zh-CN" sz="2800" dirty="0"/>
              <a:t>μ</a:t>
            </a:r>
            <a:r>
              <a:rPr lang="zh-CN" altLang="en-US" sz="2800" dirty="0"/>
              <a:t>可达到</a:t>
            </a:r>
            <a:r>
              <a:rPr lang="en-US" altLang="zh-CN" sz="2800" dirty="0"/>
              <a:t>0.1</a:t>
            </a:r>
          </a:p>
          <a:p>
            <a:r>
              <a:rPr lang="zh-CN" altLang="en-US" sz="2800" dirty="0"/>
              <a:t>设</a:t>
            </a:r>
            <a:r>
              <a:rPr lang="en-US" altLang="zh-CN" sz="2800" dirty="0"/>
              <a:t>fn3=30N</a:t>
            </a:r>
            <a:r>
              <a:rPr lang="zh-CN" altLang="en-US" sz="2800" dirty="0"/>
              <a:t>求</a:t>
            </a:r>
            <a:r>
              <a:rPr lang="en-US" altLang="zh-CN" sz="2800" dirty="0"/>
              <a:t>fn1</a:t>
            </a:r>
            <a:r>
              <a:rPr lang="zh-CN" altLang="en-US" sz="2800" dirty="0"/>
              <a:t>即可</a:t>
            </a:r>
            <a:endParaRPr lang="en-US" altLang="zh-CN" sz="2800" dirty="0"/>
          </a:p>
          <a:p>
            <a:endParaRPr lang="en-US" altLang="zh-CN" sz="2800" dirty="0"/>
          </a:p>
          <a:p>
            <a:pPr algn="ctr"/>
            <a:r>
              <a:rPr lang="zh-CN" altLang="en-US" sz="2800" dirty="0"/>
              <a:t>解方程</a:t>
            </a:r>
          </a:p>
          <a:p>
            <a:endParaRPr lang="zh-CN" altLang="en-US" sz="3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27CD60-543E-8DC8-292C-89A51E992517}"/>
              </a:ext>
            </a:extLst>
          </p:cNvPr>
          <p:cNvSpPr txBox="1"/>
          <p:nvPr/>
        </p:nvSpPr>
        <p:spPr>
          <a:xfrm>
            <a:off x="3666178" y="436173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松脱可靠性计算</a:t>
            </a:r>
          </a:p>
        </p:txBody>
      </p:sp>
      <p:pic>
        <p:nvPicPr>
          <p:cNvPr id="14" name="内容占位符 3">
            <a:extLst>
              <a:ext uri="{FF2B5EF4-FFF2-40B4-BE49-F238E27FC236}">
                <a16:creationId xmlns:a16="http://schemas.microsoft.com/office/drawing/2014/main" id="{A8E48949-2EBF-776A-0752-CEAF0909C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38" y="1457542"/>
            <a:ext cx="4383291" cy="15521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16B013F-5E35-953A-6DF0-C7C92A2C675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3167" y="1457542"/>
            <a:ext cx="7440494" cy="30670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9C6276A-2C4D-0966-EF9A-9661691EB7C4}"/>
              </a:ext>
            </a:extLst>
          </p:cNvPr>
          <p:cNvSpPr/>
          <p:nvPr/>
        </p:nvSpPr>
        <p:spPr>
          <a:xfrm>
            <a:off x="4623167" y="4641175"/>
            <a:ext cx="7440494" cy="212538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EAB889-B835-874A-4840-7853170AF71F}"/>
              </a:ext>
            </a:extLst>
          </p:cNvPr>
          <p:cNvSpPr txBox="1"/>
          <p:nvPr/>
        </p:nvSpPr>
        <p:spPr>
          <a:xfrm>
            <a:off x="5128964" y="4524592"/>
            <a:ext cx="682316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/>
          </a:p>
          <a:p>
            <a:r>
              <a:rPr lang="zh-CN" altLang="en-US" sz="2800" dirty="0"/>
              <a:t>为保持下端面零件安全下方受力必须小于</a:t>
            </a:r>
            <a:r>
              <a:rPr lang="en-US" altLang="zh-CN" sz="2800" dirty="0"/>
              <a:t>7.4x1.4</a:t>
            </a:r>
            <a:r>
              <a:rPr lang="zh-CN" altLang="en-US" sz="2800" dirty="0"/>
              <a:t>约</a:t>
            </a:r>
            <a:r>
              <a:rPr lang="en-US" altLang="zh-CN" sz="2800" dirty="0"/>
              <a:t>=12N</a:t>
            </a:r>
            <a:r>
              <a:rPr lang="zh-CN" altLang="en-US" sz="2800" dirty="0"/>
              <a:t>，否则不会松开</a:t>
            </a:r>
            <a:endParaRPr lang="en-US" altLang="zh-CN" sz="2800" dirty="0"/>
          </a:p>
          <a:p>
            <a:endParaRPr lang="en-US" altLang="zh-CN" sz="2800" dirty="0"/>
          </a:p>
          <a:p>
            <a:endParaRPr lang="zh-CN" altLang="en-US" sz="3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8955D4-DCF1-624A-E41F-1CFCB39061B6}"/>
              </a:ext>
            </a:extLst>
          </p:cNvPr>
          <p:cNvSpPr txBox="1"/>
          <p:nvPr/>
        </p:nvSpPr>
        <p:spPr>
          <a:xfrm>
            <a:off x="5128964" y="6076465"/>
            <a:ext cx="461511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B5757"/>
                </a:solidFill>
              </a:rPr>
              <a:t>超重保护</a:t>
            </a:r>
            <a:endParaRPr lang="en-US" altLang="zh-CN" sz="3200" b="1" dirty="0">
              <a:solidFill>
                <a:srgbClr val="0B5757"/>
              </a:solidFill>
            </a:endParaRPr>
          </a:p>
          <a:p>
            <a:endParaRPr lang="en-US" altLang="zh-CN" sz="2800" dirty="0"/>
          </a:p>
          <a:p>
            <a:endParaRPr lang="zh-CN" altLang="en-US" sz="32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AEF1126-C229-1E27-BFBC-B75769882708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00FE71D-EB30-9783-6369-0AAFFDC53E7E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96EBB1A-7630-B10D-EF41-FBE6479DE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B1E12125-50EF-3F0D-ECCE-1046EC032016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872F5B-EA8B-F495-CDFB-188E3E7B558E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045C3FF-62BF-47CF-34D3-2C3EF0C24A3B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0" name="内容占位符 4">
              <a:extLst>
                <a:ext uri="{FF2B5EF4-FFF2-40B4-BE49-F238E27FC236}">
                  <a16:creationId xmlns:a16="http://schemas.microsoft.com/office/drawing/2014/main" id="{074509FC-2CBC-2BBA-4C0F-2E05211A5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31" name="标题 1">
              <a:extLst>
                <a:ext uri="{FF2B5EF4-FFF2-40B4-BE49-F238E27FC236}">
                  <a16:creationId xmlns:a16="http://schemas.microsoft.com/office/drawing/2014/main" id="{98B08E5A-6DDD-8AE4-CB7E-80FE1E2BBA85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FAC7EE8-48E5-7453-ADF6-8F172247624F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CFE623D-6047-9026-E904-0C1CC398C657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7FF8A88A-BF1B-EC6D-8B1A-D25C50642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35" name="标题 1">
              <a:extLst>
                <a:ext uri="{FF2B5EF4-FFF2-40B4-BE49-F238E27FC236}">
                  <a16:creationId xmlns:a16="http://schemas.microsoft.com/office/drawing/2014/main" id="{13481C6C-5611-2079-B906-26963C0A1581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B297FD5-8C7C-CC95-701C-87FECECA17FD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D714E57-392A-C53E-F358-0CA193702186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标题 1">
              <a:extLst>
                <a:ext uri="{FF2B5EF4-FFF2-40B4-BE49-F238E27FC236}">
                  <a16:creationId xmlns:a16="http://schemas.microsoft.com/office/drawing/2014/main" id="{F2858815-E0C4-4B4F-4F85-1FB317BA3BB2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ED2F2345-13F6-C9B5-1A52-CC8768D94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3F8C19C7-95FC-C243-93D4-54D386212D3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5569" y="2264022"/>
            <a:ext cx="2261254" cy="1710526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090619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DF993-746A-23BC-FA69-E0D54CB0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9849961-008F-4D7D-38FE-35686E6316FB}"/>
              </a:ext>
            </a:extLst>
          </p:cNvPr>
          <p:cNvGrpSpPr/>
          <p:nvPr/>
        </p:nvGrpSpPr>
        <p:grpSpPr>
          <a:xfrm>
            <a:off x="128336" y="128336"/>
            <a:ext cx="3705726" cy="6601328"/>
            <a:chOff x="128336" y="128336"/>
            <a:chExt cx="3705726" cy="66013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7080B54-5A2C-7219-5694-C04CFCF2EF12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263972F-399A-EF8C-A4B6-ED16E4DEA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ACE01D73-CDE0-DF45-DFD7-7C90AD559E68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0839C88-3AF2-DD0D-4EC9-DEE76E916129}"/>
              </a:ext>
            </a:extLst>
          </p:cNvPr>
          <p:cNvGrpSpPr/>
          <p:nvPr/>
        </p:nvGrpSpPr>
        <p:grpSpPr>
          <a:xfrm>
            <a:off x="3986463" y="3429000"/>
            <a:ext cx="4219073" cy="3300664"/>
            <a:chOff x="3986463" y="3429000"/>
            <a:chExt cx="4219073" cy="33006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003F88-6383-E8DA-6F88-4B7F0FA7FBBD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A5FED4B0-D493-B815-49D4-1059F390E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B682ABD3-37EB-8D6D-2390-606652554FB1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F84BCAB-66F4-920C-E65F-5A1CAA337937}"/>
              </a:ext>
            </a:extLst>
          </p:cNvPr>
          <p:cNvGrpSpPr/>
          <p:nvPr/>
        </p:nvGrpSpPr>
        <p:grpSpPr>
          <a:xfrm>
            <a:off x="3986463" y="128336"/>
            <a:ext cx="4219073" cy="3184358"/>
            <a:chOff x="3986463" y="128336"/>
            <a:chExt cx="4219073" cy="318435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BADA7FA-DE95-3175-4C90-02CB28052672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3" name="内容占位符 4">
              <a:extLst>
                <a:ext uri="{FF2B5EF4-FFF2-40B4-BE49-F238E27FC236}">
                  <a16:creationId xmlns:a16="http://schemas.microsoft.com/office/drawing/2014/main" id="{B1485289-26D6-FC6B-4BFD-8DC5931BA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24" name="标题 1">
              <a:extLst>
                <a:ext uri="{FF2B5EF4-FFF2-40B4-BE49-F238E27FC236}">
                  <a16:creationId xmlns:a16="http://schemas.microsoft.com/office/drawing/2014/main" id="{47811526-7CA6-BCAE-4B94-82FD66EEB4E2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EBC0E1A-7E8D-D98B-099E-FA3F0F002B28}"/>
              </a:ext>
            </a:extLst>
          </p:cNvPr>
          <p:cNvGrpSpPr/>
          <p:nvPr/>
        </p:nvGrpSpPr>
        <p:grpSpPr>
          <a:xfrm>
            <a:off x="8157751" y="128336"/>
            <a:ext cx="4034249" cy="6601328"/>
            <a:chOff x="8157751" y="128336"/>
            <a:chExt cx="4034249" cy="660132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EEFDB2A-6301-3A3E-7335-39BDDC78B178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标题 1">
              <a:extLst>
                <a:ext uri="{FF2B5EF4-FFF2-40B4-BE49-F238E27FC236}">
                  <a16:creationId xmlns:a16="http://schemas.microsoft.com/office/drawing/2014/main" id="{D9568A4F-98DB-BC2E-61A8-14ABA0AF30D6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5EEFE74-BF5A-41C6-D5A7-32534D8B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</p:spTree>
    <p:extLst>
      <p:ext uri="{BB962C8B-B14F-4D97-AF65-F5344CB8AC3E}">
        <p14:creationId xmlns:p14="http://schemas.microsoft.com/office/powerpoint/2010/main" val="2475797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ACB4-E274-3BB4-2AD7-CD5DC0BA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6469E2BE-95A1-92BF-B306-34E103FB92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90" y="-62450"/>
            <a:ext cx="12240586" cy="7650366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ACE8F69A-A072-F0A5-929E-D86CBF5EC545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电路连接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D23378E-5398-0858-32AB-5298BD8ED6C5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E5897C-754B-6325-07AF-061A1B2EF62E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C6345B3-562F-623B-E1C5-548E23434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7592BA7D-F132-6E1F-C041-A6EE53A2A1B4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12976C7-AA32-9816-3F99-A20C56C38FC3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63C59BA-CBCA-6820-7E93-AD2B34F58E0F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" name="内容占位符 4">
              <a:extLst>
                <a:ext uri="{FF2B5EF4-FFF2-40B4-BE49-F238E27FC236}">
                  <a16:creationId xmlns:a16="http://schemas.microsoft.com/office/drawing/2014/main" id="{BC2D1527-B4CF-B3F9-6D79-78A0E8FC1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12" name="标题 1">
              <a:extLst>
                <a:ext uri="{FF2B5EF4-FFF2-40B4-BE49-F238E27FC236}">
                  <a16:creationId xmlns:a16="http://schemas.microsoft.com/office/drawing/2014/main" id="{25B7A73B-DA03-A778-720D-B23C4DCEBEA6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1BD78E4-81D1-DBFC-F095-2137E77B03ED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DFF985A-082C-E43B-DCEA-F00A68AAAC59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19D3F28-59DD-3DE0-238B-F599CF4A4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17" name="标题 1">
              <a:extLst>
                <a:ext uri="{FF2B5EF4-FFF2-40B4-BE49-F238E27FC236}">
                  <a16:creationId xmlns:a16="http://schemas.microsoft.com/office/drawing/2014/main" id="{3E62C69E-8E7C-80C5-2055-55A7FE74DC40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8A4AD9B-60A2-C3D7-8EAA-D77600538822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0E6A44A-F981-9B78-48CF-3B65B8B345B0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标题 1">
              <a:extLst>
                <a:ext uri="{FF2B5EF4-FFF2-40B4-BE49-F238E27FC236}">
                  <a16:creationId xmlns:a16="http://schemas.microsoft.com/office/drawing/2014/main" id="{F63840A6-53EE-A7BD-4581-CE3B1D1B1E82}"/>
                </a:ext>
              </a:extLst>
            </p:cNvPr>
            <p:cNvSpPr txBox="1">
              <a:spLocks/>
            </p:cNvSpPr>
            <p:nvPr/>
          </p:nvSpPr>
          <p:spPr>
            <a:xfrm>
              <a:off x="9589954" y="1097662"/>
              <a:ext cx="1241690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总结</a:t>
              </a: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9E71EE21-0A89-A529-290C-EFA05D0AB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</p:spTree>
    <p:extLst>
      <p:ext uri="{BB962C8B-B14F-4D97-AF65-F5344CB8AC3E}">
        <p14:creationId xmlns:p14="http://schemas.microsoft.com/office/powerpoint/2010/main" val="2967953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FA0C-2CCF-3D34-4E97-E926910F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32F7E3D-60DF-8C41-772E-8458ECAB0F2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8757" y="-1073677"/>
            <a:ext cx="13898884" cy="8686802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35032918-05C3-9296-EE9B-DFFB88E5D555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电路连接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D1AD50-442B-24C8-8719-D6BD9EDDC02B}"/>
              </a:ext>
            </a:extLst>
          </p:cNvPr>
          <p:cNvSpPr txBox="1"/>
          <p:nvPr/>
        </p:nvSpPr>
        <p:spPr>
          <a:xfrm>
            <a:off x="459411" y="1746230"/>
            <a:ext cx="32944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使用双</a:t>
            </a:r>
            <a:r>
              <a:rPr lang="en-US" altLang="zh-CN" sz="3200" dirty="0"/>
              <a:t>8pinFPC</a:t>
            </a:r>
            <a:r>
              <a:rPr lang="zh-CN" altLang="en-US" sz="3200" dirty="0"/>
              <a:t>线传递信息</a:t>
            </a:r>
            <a:endParaRPr lang="en-US" altLang="zh-CN" sz="3200" dirty="0"/>
          </a:p>
          <a:p>
            <a:r>
              <a:rPr lang="zh-CN" altLang="en-US" sz="3200" dirty="0"/>
              <a:t>占用空间小</a:t>
            </a:r>
            <a:endParaRPr lang="en-US" altLang="zh-CN" sz="3200" dirty="0"/>
          </a:p>
          <a:p>
            <a:r>
              <a:rPr lang="zh-CN" altLang="en-US" sz="3200" dirty="0"/>
              <a:t>引脚数量多</a:t>
            </a:r>
            <a:endParaRPr lang="en-US" altLang="zh-CN" sz="3200" dirty="0"/>
          </a:p>
          <a:p>
            <a:r>
              <a:rPr lang="zh-CN" altLang="en-US" sz="3200" dirty="0"/>
              <a:t>线材本身也可快速插拔</a:t>
            </a:r>
          </a:p>
        </p:txBody>
      </p:sp>
      <p:pic>
        <p:nvPicPr>
          <p:cNvPr id="1026" name="Picture 2" descr="电路板常用连接器（接插件）介绍与选型建议（一文搞懂如何使用FFC/FPC连接器）_嵌入式常见接插件-CSDN博客">
            <a:extLst>
              <a:ext uri="{FF2B5EF4-FFF2-40B4-BE49-F238E27FC236}">
                <a16:creationId xmlns:a16="http://schemas.microsoft.com/office/drawing/2014/main" id="{5A9DC6E8-A55C-DF76-5FA0-C012E8B8DD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90021" y="1746230"/>
            <a:ext cx="3496903" cy="3365540"/>
          </a:xfrm>
          <a:prstGeom prst="rect">
            <a:avLst/>
          </a:prstGeom>
          <a:noFill/>
          <a:effectLst>
            <a:softEdge rad="1143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42D7607-0B79-63FB-CFB8-A9A8EA44F5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6091" y="7776006"/>
            <a:ext cx="545009" cy="24052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4EA85D1E-6531-1CF2-C9DB-BDF271A19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4436" y="7776006"/>
            <a:ext cx="631170" cy="240527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9890D8A-A3B1-0917-774A-4AE585B2163D}"/>
              </a:ext>
            </a:extLst>
          </p:cNvPr>
          <p:cNvCxnSpPr>
            <a:cxnSpLocks/>
          </p:cNvCxnSpPr>
          <p:nvPr/>
        </p:nvCxnSpPr>
        <p:spPr>
          <a:xfrm>
            <a:off x="8690352" y="8862986"/>
            <a:ext cx="1240404" cy="0"/>
          </a:xfrm>
          <a:prstGeom prst="straightConnector1">
            <a:avLst/>
          </a:prstGeom>
          <a:ln w="34925">
            <a:solidFill>
              <a:srgbClr val="0B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50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9A37-3FA1-C6D4-6F55-3555CF02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9A53F4-5EA5-0A30-3625-82637456D2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77816" y="-3426995"/>
            <a:ext cx="21939186" cy="1371199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02D0563E-467D-776C-E781-A7BC10B4356C}"/>
              </a:ext>
            </a:extLst>
          </p:cNvPr>
          <p:cNvSpPr txBox="1">
            <a:spLocks/>
          </p:cNvSpPr>
          <p:nvPr/>
        </p:nvSpPr>
        <p:spPr>
          <a:xfrm>
            <a:off x="7361616" y="87719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电路连接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1D681E-C9EC-CB30-E9E7-185226F3D3BB}"/>
              </a:ext>
            </a:extLst>
          </p:cNvPr>
          <p:cNvSpPr txBox="1"/>
          <p:nvPr/>
        </p:nvSpPr>
        <p:spPr>
          <a:xfrm>
            <a:off x="6693375" y="1993795"/>
            <a:ext cx="49176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使用竖直铜弹片导电</a:t>
            </a:r>
            <a:endParaRPr lang="en-US" altLang="zh-CN" sz="3200" dirty="0"/>
          </a:p>
          <a:p>
            <a:r>
              <a:rPr lang="zh-CN" altLang="en-US" sz="3200" dirty="0"/>
              <a:t>在上下端面有位移的时候</a:t>
            </a:r>
            <a:endParaRPr lang="en-US" altLang="zh-CN" sz="3200" dirty="0"/>
          </a:p>
          <a:p>
            <a:r>
              <a:rPr lang="zh-CN" altLang="en-US" sz="3200" dirty="0"/>
              <a:t>仍具有高度可靠性</a:t>
            </a:r>
            <a:endParaRPr lang="en-US" altLang="zh-CN" sz="3200" dirty="0"/>
          </a:p>
          <a:p>
            <a:r>
              <a:rPr lang="zh-CN" altLang="en-US" sz="3200" dirty="0"/>
              <a:t>单侧弹片占空间小</a:t>
            </a:r>
            <a:endParaRPr lang="en-US" altLang="zh-CN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F50B01-F83B-0A14-C279-F55CDDA81EA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9848" y="4297311"/>
            <a:ext cx="545009" cy="24052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60EAF3-47E0-06C0-43E9-4C977EE09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7604" y="4297311"/>
            <a:ext cx="631170" cy="240527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0D948F3-9346-D754-8DD4-9D63D426D295}"/>
              </a:ext>
            </a:extLst>
          </p:cNvPr>
          <p:cNvCxnSpPr>
            <a:cxnSpLocks/>
          </p:cNvCxnSpPr>
          <p:nvPr/>
        </p:nvCxnSpPr>
        <p:spPr>
          <a:xfrm>
            <a:off x="8450614" y="5499946"/>
            <a:ext cx="1240404" cy="0"/>
          </a:xfrm>
          <a:prstGeom prst="straightConnector1">
            <a:avLst/>
          </a:prstGeom>
          <a:ln w="34925">
            <a:solidFill>
              <a:srgbClr val="0B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024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3DC7A-B6CE-401E-6740-BDD168C0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184B1-3BA9-A9F2-3763-3A378F619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F6335D1D-1C48-0459-7DDB-D102E7F252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16374" y="-1660358"/>
            <a:ext cx="14824748" cy="96701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976F8F4-DD6D-C118-3FE5-834384448BDD}"/>
              </a:ext>
            </a:extLst>
          </p:cNvPr>
          <p:cNvSpPr txBox="1"/>
          <p:nvPr/>
        </p:nvSpPr>
        <p:spPr>
          <a:xfrm>
            <a:off x="6315149" y="4984140"/>
            <a:ext cx="58768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铜弹片内嵌于上下盖</a:t>
            </a:r>
            <a:endParaRPr lang="en-US" altLang="zh-CN" sz="3200" dirty="0"/>
          </a:p>
          <a:p>
            <a:r>
              <a:rPr lang="zh-CN" altLang="en-US" sz="3200" dirty="0"/>
              <a:t>上下盖使用塑料件绝缘</a:t>
            </a:r>
            <a:endParaRPr lang="en-US" altLang="zh-CN" sz="3200" dirty="0"/>
          </a:p>
          <a:p>
            <a:r>
              <a:rPr lang="zh-CN" altLang="en-US" sz="3200" dirty="0"/>
              <a:t>上下盖使装配体装配简易</a:t>
            </a:r>
            <a:endParaRPr lang="en-US" altLang="zh-CN" sz="3200" dirty="0"/>
          </a:p>
          <a:p>
            <a:endParaRPr lang="en-US" altLang="zh-CN" sz="32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9494E20-06AA-F5B8-BA7F-6151EF4312DB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电路连接</a:t>
            </a:r>
          </a:p>
        </p:txBody>
      </p:sp>
    </p:spTree>
    <p:extLst>
      <p:ext uri="{BB962C8B-B14F-4D97-AF65-F5344CB8AC3E}">
        <p14:creationId xmlns:p14="http://schemas.microsoft.com/office/powerpoint/2010/main" val="888529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524C0-4611-7117-E44E-867B8853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B1C6D-8A0A-50D3-35C6-9D3887C2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F2EF44-DC02-9B43-38F2-DBBC3F602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12DCFD21-C071-D592-E85A-BB5ADA6EEE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16374" y="-1660358"/>
            <a:ext cx="14824748" cy="96701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904A355-B225-C1DF-0C4C-F43726D731AD}"/>
              </a:ext>
            </a:extLst>
          </p:cNvPr>
          <p:cNvSpPr txBox="1"/>
          <p:nvPr/>
        </p:nvSpPr>
        <p:spPr>
          <a:xfrm>
            <a:off x="7126082" y="4923215"/>
            <a:ext cx="49730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所有零件使用</a:t>
            </a:r>
            <a:r>
              <a:rPr lang="en-US" altLang="zh-CN" sz="3200" dirty="0"/>
              <a:t>8</a:t>
            </a:r>
            <a:r>
              <a:rPr lang="zh-CN" altLang="en-US" sz="3200" dirty="0"/>
              <a:t>个螺钉国定在上下法兰盘</a:t>
            </a:r>
            <a:endParaRPr lang="en-US" altLang="zh-CN" sz="3200" dirty="0"/>
          </a:p>
          <a:p>
            <a:r>
              <a:rPr lang="zh-CN" altLang="en-US" sz="3200" dirty="0"/>
              <a:t>（无额外螺钉）</a:t>
            </a:r>
            <a:endParaRPr lang="en-US" altLang="zh-CN" sz="320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6BB4262-E030-0563-68C6-C9076170EDB2}"/>
              </a:ext>
            </a:extLst>
          </p:cNvPr>
          <p:cNvCxnSpPr>
            <a:cxnSpLocks/>
          </p:cNvCxnSpPr>
          <p:nvPr/>
        </p:nvCxnSpPr>
        <p:spPr>
          <a:xfrm flipH="1">
            <a:off x="9461055" y="520635"/>
            <a:ext cx="1000938" cy="45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AECA92E-F9BD-2377-036C-DCF60B7C106B}"/>
              </a:ext>
            </a:extLst>
          </p:cNvPr>
          <p:cNvCxnSpPr>
            <a:cxnSpLocks/>
          </p:cNvCxnSpPr>
          <p:nvPr/>
        </p:nvCxnSpPr>
        <p:spPr>
          <a:xfrm flipV="1">
            <a:off x="1256067" y="4666730"/>
            <a:ext cx="1207168" cy="502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8D2AB52-1483-9495-6A7C-54D06580CDB8}"/>
              </a:ext>
            </a:extLst>
          </p:cNvPr>
          <p:cNvCxnSpPr>
            <a:cxnSpLocks/>
          </p:cNvCxnSpPr>
          <p:nvPr/>
        </p:nvCxnSpPr>
        <p:spPr>
          <a:xfrm flipV="1">
            <a:off x="1859651" y="5306993"/>
            <a:ext cx="1288613" cy="564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EBDBD56-0EA7-3DFC-7DE6-C2ACAC31CD20}"/>
              </a:ext>
            </a:extLst>
          </p:cNvPr>
          <p:cNvCxnSpPr>
            <a:cxnSpLocks/>
          </p:cNvCxnSpPr>
          <p:nvPr/>
        </p:nvCxnSpPr>
        <p:spPr>
          <a:xfrm flipV="1">
            <a:off x="1764632" y="4343400"/>
            <a:ext cx="1245730" cy="477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D6A11D1-3B8F-5B4D-4CA8-74C62B715EFF}"/>
              </a:ext>
            </a:extLst>
          </p:cNvPr>
          <p:cNvCxnSpPr>
            <a:cxnSpLocks/>
          </p:cNvCxnSpPr>
          <p:nvPr/>
        </p:nvCxnSpPr>
        <p:spPr>
          <a:xfrm flipV="1">
            <a:off x="1155032" y="3688474"/>
            <a:ext cx="1219200" cy="498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84CDD2B-E170-3ED2-8077-EAE78FCD5B27}"/>
              </a:ext>
            </a:extLst>
          </p:cNvPr>
          <p:cNvCxnSpPr>
            <a:cxnSpLocks/>
          </p:cNvCxnSpPr>
          <p:nvPr/>
        </p:nvCxnSpPr>
        <p:spPr>
          <a:xfrm flipH="1">
            <a:off x="9961524" y="1528048"/>
            <a:ext cx="558052" cy="275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E0762B2-7392-9AC7-9AD2-8D38431ECF5E}"/>
              </a:ext>
            </a:extLst>
          </p:cNvPr>
          <p:cNvCxnSpPr>
            <a:cxnSpLocks/>
          </p:cNvCxnSpPr>
          <p:nvPr/>
        </p:nvCxnSpPr>
        <p:spPr>
          <a:xfrm flipH="1">
            <a:off x="9961524" y="797209"/>
            <a:ext cx="1464500" cy="735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1B6AA07-3B94-EED5-605D-61E6E8ECB850}"/>
              </a:ext>
            </a:extLst>
          </p:cNvPr>
          <p:cNvCxnSpPr>
            <a:cxnSpLocks/>
          </p:cNvCxnSpPr>
          <p:nvPr/>
        </p:nvCxnSpPr>
        <p:spPr>
          <a:xfrm flipH="1">
            <a:off x="10042428" y="1664247"/>
            <a:ext cx="1408940" cy="67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标题 1">
            <a:extLst>
              <a:ext uri="{FF2B5EF4-FFF2-40B4-BE49-F238E27FC236}">
                <a16:creationId xmlns:a16="http://schemas.microsoft.com/office/drawing/2014/main" id="{EEDAFC2B-B5FD-29DB-F0A2-77EACF7AD34A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电路连接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3A55B61-D050-894D-4AB9-5FA197031B25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604A073-4D81-6C33-9444-29EA42182327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EE223DD1-EC37-5CB6-E389-4CDCE503C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34" name="标题 1">
              <a:extLst>
                <a:ext uri="{FF2B5EF4-FFF2-40B4-BE49-F238E27FC236}">
                  <a16:creationId xmlns:a16="http://schemas.microsoft.com/office/drawing/2014/main" id="{544DF947-F6D7-4460-48C4-6CC6FED640CD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3932DD3-E16E-467F-9BFF-A46B8214DEE6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DD2DF08-443C-81DC-FA72-787A7F0CA287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7" name="内容占位符 4">
              <a:extLst>
                <a:ext uri="{FF2B5EF4-FFF2-40B4-BE49-F238E27FC236}">
                  <a16:creationId xmlns:a16="http://schemas.microsoft.com/office/drawing/2014/main" id="{0E326F23-94F6-8E06-6748-41A73A81F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38" name="标题 1">
              <a:extLst>
                <a:ext uri="{FF2B5EF4-FFF2-40B4-BE49-F238E27FC236}">
                  <a16:creationId xmlns:a16="http://schemas.microsoft.com/office/drawing/2014/main" id="{FE646672-0AB2-785F-CD6E-403E26EE414A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E0653FD-61A1-D6CD-5D2F-B57A078AD16B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DF63072-A24B-E02C-9164-A6FD57348321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733DAAD-D90C-031E-C1A1-40C76B6C2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42" name="标题 1">
              <a:extLst>
                <a:ext uri="{FF2B5EF4-FFF2-40B4-BE49-F238E27FC236}">
                  <a16:creationId xmlns:a16="http://schemas.microsoft.com/office/drawing/2014/main" id="{8F6561F6-908D-DC62-4DF6-77FCEECF7352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3234AE-05A5-DFB0-38AC-1B6009D7D71B}"/>
              </a:ext>
            </a:extLst>
          </p:cNvPr>
          <p:cNvGrpSpPr/>
          <p:nvPr/>
        </p:nvGrpSpPr>
        <p:grpSpPr>
          <a:xfrm>
            <a:off x="13508374" y="128336"/>
            <a:ext cx="4034249" cy="6601328"/>
            <a:chOff x="8157751" y="128336"/>
            <a:chExt cx="4034249" cy="6601328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F6158965-4CFB-3999-7FEB-3731EA8371B9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3DD7C810-126C-A6E1-1568-579A86430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sp>
        <p:nvSpPr>
          <p:cNvPr id="50" name="标题 1">
            <a:extLst>
              <a:ext uri="{FF2B5EF4-FFF2-40B4-BE49-F238E27FC236}">
                <a16:creationId xmlns:a16="http://schemas.microsoft.com/office/drawing/2014/main" id="{23BFAFC1-C85B-4632-FD03-2B4BFD7255F0}"/>
              </a:ext>
            </a:extLst>
          </p:cNvPr>
          <p:cNvSpPr txBox="1">
            <a:spLocks/>
          </p:cNvSpPr>
          <p:nvPr/>
        </p:nvSpPr>
        <p:spPr>
          <a:xfrm>
            <a:off x="15100998" y="1054099"/>
            <a:ext cx="1241690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59413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99E04-56F4-CA92-8659-88F3F0A6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53575A1-8E73-A64F-0857-A4E4A7CB6872}"/>
              </a:ext>
            </a:extLst>
          </p:cNvPr>
          <p:cNvGrpSpPr/>
          <p:nvPr/>
        </p:nvGrpSpPr>
        <p:grpSpPr>
          <a:xfrm>
            <a:off x="128336" y="128336"/>
            <a:ext cx="3705726" cy="6601328"/>
            <a:chOff x="128336" y="128336"/>
            <a:chExt cx="3705726" cy="66013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1AA6394-D19E-9927-23FA-34F03411B3E6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8D61C40-C7AA-0B41-7071-A1B0A530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0C6FB994-3977-C531-1905-8FE0B691800D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5627CF-CDE9-7C15-33E4-F9F17773101F}"/>
              </a:ext>
            </a:extLst>
          </p:cNvPr>
          <p:cNvGrpSpPr/>
          <p:nvPr/>
        </p:nvGrpSpPr>
        <p:grpSpPr>
          <a:xfrm>
            <a:off x="3986463" y="3429000"/>
            <a:ext cx="4219073" cy="3300664"/>
            <a:chOff x="3986463" y="3429000"/>
            <a:chExt cx="4219073" cy="33006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EA3C078-555A-0198-7C3C-E4C4B75C7E98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655A156-5C7C-E075-FEE6-90C8CF64D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B4DB4ED9-FD4E-C276-2CBA-00C4FDD26D6F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B38691E-A559-400C-AFF8-430EBA56422F}"/>
              </a:ext>
            </a:extLst>
          </p:cNvPr>
          <p:cNvGrpSpPr/>
          <p:nvPr/>
        </p:nvGrpSpPr>
        <p:grpSpPr>
          <a:xfrm>
            <a:off x="3986463" y="128336"/>
            <a:ext cx="4219073" cy="3184358"/>
            <a:chOff x="3986463" y="128336"/>
            <a:chExt cx="4219073" cy="318435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E863E05-9693-5FDB-5BB7-1CBB30D3234A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3" name="内容占位符 4">
              <a:extLst>
                <a:ext uri="{FF2B5EF4-FFF2-40B4-BE49-F238E27FC236}">
                  <a16:creationId xmlns:a16="http://schemas.microsoft.com/office/drawing/2014/main" id="{BEE498BA-0540-8978-35B6-02F8D55DB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24" name="标题 1">
              <a:extLst>
                <a:ext uri="{FF2B5EF4-FFF2-40B4-BE49-F238E27FC236}">
                  <a16:creationId xmlns:a16="http://schemas.microsoft.com/office/drawing/2014/main" id="{AB6E3EA7-4BA2-73B8-9B84-397F74EDD9D7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7562CF1-7109-E924-B3EA-30BDAF2D2C3D}"/>
              </a:ext>
            </a:extLst>
          </p:cNvPr>
          <p:cNvGrpSpPr/>
          <p:nvPr/>
        </p:nvGrpSpPr>
        <p:grpSpPr>
          <a:xfrm>
            <a:off x="8157751" y="128336"/>
            <a:ext cx="4034249" cy="6601328"/>
            <a:chOff x="8157751" y="128336"/>
            <a:chExt cx="4034249" cy="660132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F7B20DE-00DE-FD51-5B6F-12D5F9A74A85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A012A59-A87E-4B26-05D2-B51A884DE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sp>
        <p:nvSpPr>
          <p:cNvPr id="20" name="标题 1">
            <a:extLst>
              <a:ext uri="{FF2B5EF4-FFF2-40B4-BE49-F238E27FC236}">
                <a16:creationId xmlns:a16="http://schemas.microsoft.com/office/drawing/2014/main" id="{4694D5B9-2BD4-F11F-B169-9904F2EE5A06}"/>
              </a:ext>
            </a:extLst>
          </p:cNvPr>
          <p:cNvSpPr txBox="1">
            <a:spLocks/>
          </p:cNvSpPr>
          <p:nvPr/>
        </p:nvSpPr>
        <p:spPr>
          <a:xfrm>
            <a:off x="9702249" y="1038058"/>
            <a:ext cx="1241690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336623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4FC8B50-3067-019A-4367-63FED15CE0BB}"/>
              </a:ext>
            </a:extLst>
          </p:cNvPr>
          <p:cNvSpPr/>
          <p:nvPr/>
        </p:nvSpPr>
        <p:spPr>
          <a:xfrm>
            <a:off x="128338" y="1261965"/>
            <a:ext cx="5253287" cy="55045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770C21-7EF0-FF11-6261-1DF16FA1840E}"/>
              </a:ext>
            </a:extLst>
          </p:cNvPr>
          <p:cNvSpPr/>
          <p:nvPr/>
        </p:nvSpPr>
        <p:spPr>
          <a:xfrm>
            <a:off x="5524501" y="1261965"/>
            <a:ext cx="6539164" cy="55045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18738F-16B9-9398-15E7-6402084E9041}"/>
              </a:ext>
            </a:extLst>
          </p:cNvPr>
          <p:cNvSpPr txBox="1"/>
          <p:nvPr/>
        </p:nvSpPr>
        <p:spPr>
          <a:xfrm>
            <a:off x="459412" y="1497777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已有快换装置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21E955-8A96-8B25-4DBB-408A85CE28D6}"/>
              </a:ext>
            </a:extLst>
          </p:cNvPr>
          <p:cNvSpPr txBox="1"/>
          <p:nvPr/>
        </p:nvSpPr>
        <p:spPr>
          <a:xfrm>
            <a:off x="465324" y="2901062"/>
            <a:ext cx="457931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松脱装置易误触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未考虑抗加速度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或</a:t>
            </a:r>
            <a:r>
              <a:rPr lang="zh-CN" altLang="en-US" sz="2800" b="1" dirty="0">
                <a:solidFill>
                  <a:srgbClr val="139C99"/>
                </a:solidFill>
              </a:rPr>
              <a:t>依靠摩擦力抗加速度</a:t>
            </a:r>
            <a:endParaRPr lang="en-US" altLang="zh-CN" sz="2800" b="1" dirty="0">
              <a:solidFill>
                <a:srgbClr val="139C99"/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假快换，需要其他操作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仅依靠手动快换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外接触点，增加体积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zh-CN" altLang="en-US" sz="3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E20A49-4195-1C2C-06B4-48A09D8A8CD8}"/>
              </a:ext>
            </a:extLst>
          </p:cNvPr>
          <p:cNvSpPr txBox="1"/>
          <p:nvPr/>
        </p:nvSpPr>
        <p:spPr>
          <a:xfrm>
            <a:off x="5945812" y="1497777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139C99"/>
                </a:solidFill>
                <a:effectLst>
                  <a:innerShdw blurRad="114300">
                    <a:prstClr val="black"/>
                  </a:innerShdw>
                </a:effectLst>
              </a:rPr>
              <a:t>我们提供的方案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CC0CB-6167-499D-4F88-3DA534C060D5}"/>
              </a:ext>
            </a:extLst>
          </p:cNvPr>
          <p:cNvSpPr txBox="1"/>
          <p:nvPr/>
        </p:nvSpPr>
        <p:spPr>
          <a:xfrm>
            <a:off x="5945812" y="2901061"/>
            <a:ext cx="55794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防误触设计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b="1" dirty="0">
                <a:solidFill>
                  <a:srgbClr val="139C99"/>
                </a:solidFill>
              </a:rPr>
              <a:t>抗任意方向的加速度与角加速度</a:t>
            </a:r>
            <a:endParaRPr lang="en-US" altLang="zh-CN" sz="2800" b="1" dirty="0">
              <a:solidFill>
                <a:srgbClr val="139C99"/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真快换，插入即锁定，拔出即松脱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手动快换，电磁铁均可选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还有丝杆等其他变体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内置触点，用标准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FPC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线，体积小。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zh-CN" altLang="en-US" sz="32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9F8CED1-1675-67D5-8CB6-197232B77B13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5587062-666F-0549-0B05-152991FF6306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677B8DF-CB83-0EC8-9871-FC59E301D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5" name="标题 1">
              <a:extLst>
                <a:ext uri="{FF2B5EF4-FFF2-40B4-BE49-F238E27FC236}">
                  <a16:creationId xmlns:a16="http://schemas.microsoft.com/office/drawing/2014/main" id="{0958E8FA-A641-2212-B3DB-09E267EB3809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5CD966C-9CC5-C286-78F8-4928F036DF2A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1FCF078-F57E-F878-01A1-3B5B6F4BF2E3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8" name="内容占位符 4">
              <a:extLst>
                <a:ext uri="{FF2B5EF4-FFF2-40B4-BE49-F238E27FC236}">
                  <a16:creationId xmlns:a16="http://schemas.microsoft.com/office/drawing/2014/main" id="{B5810FB6-B65F-936A-2B1A-3A34E8BB4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B3902B7F-39E1-4742-A075-18F986F833C3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F2AC36A-0D07-253A-CF6F-DDE8718BD2AF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661EB04-F37B-1B46-7775-F595D229D50B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B306587-ACC7-1586-FC43-C17866F90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23" name="标题 1">
              <a:extLst>
                <a:ext uri="{FF2B5EF4-FFF2-40B4-BE49-F238E27FC236}">
                  <a16:creationId xmlns:a16="http://schemas.microsoft.com/office/drawing/2014/main" id="{6EA6ED32-7076-AE14-EFF1-61FB9E0524FE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64F25B4-7107-B3BD-33D0-D3C742B13E4B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CCEABB7-9C63-1B3E-331F-4013A8C9B898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69659836-E7C9-E748-2948-C54EE9B7E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C05986F6-A41E-10D5-F03B-AA03CCB03FB9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146408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C1923-F373-3D6E-A70C-34C1D5B9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BF392DD-B0BE-0659-84B2-FDF55BC084DD}"/>
              </a:ext>
            </a:extLst>
          </p:cNvPr>
          <p:cNvSpPr/>
          <p:nvPr/>
        </p:nvSpPr>
        <p:spPr>
          <a:xfrm>
            <a:off x="128338" y="1261965"/>
            <a:ext cx="5253287" cy="55045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E4DA4E-20E1-A694-7149-2265AD09CFA1}"/>
              </a:ext>
            </a:extLst>
          </p:cNvPr>
          <p:cNvSpPr/>
          <p:nvPr/>
        </p:nvSpPr>
        <p:spPr>
          <a:xfrm>
            <a:off x="5524501" y="1261965"/>
            <a:ext cx="6539164" cy="55045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3A324C-D406-406D-CA3E-457868C79DD1}"/>
              </a:ext>
            </a:extLst>
          </p:cNvPr>
          <p:cNvSpPr txBox="1"/>
          <p:nvPr/>
        </p:nvSpPr>
        <p:spPr>
          <a:xfrm>
            <a:off x="459412" y="1497777"/>
            <a:ext cx="3818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4000" b="1" dirty="0">
              <a:solidFill>
                <a:srgbClr val="139C99"/>
              </a:solidFill>
              <a:effectLst>
                <a:innerShdw blurRad="114300">
                  <a:prstClr val="black"/>
                </a:innerShdw>
              </a:effectLs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AA470E-F352-5F3B-7B55-CCDD1CE6646D}"/>
              </a:ext>
            </a:extLst>
          </p:cNvPr>
          <p:cNvSpPr txBox="1"/>
          <p:nvPr/>
        </p:nvSpPr>
        <p:spPr>
          <a:xfrm>
            <a:off x="6679380" y="2041360"/>
            <a:ext cx="471842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PPT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制作：  陈煜暄，包高翔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构思：        陈煜暄，娄必辉                         技术报告：包高翔，陈煜暄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建模：        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SW, 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金家俊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SE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，陈煜暄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仿真分析：金家俊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电路：        娄必辉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答辩人：    陈煜暄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zh-CN" altLang="en-US" sz="32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6F8F6D4-9100-21AD-E684-605567FBD0B2}"/>
              </a:ext>
            </a:extLst>
          </p:cNvPr>
          <p:cNvGrpSpPr/>
          <p:nvPr/>
        </p:nvGrpSpPr>
        <p:grpSpPr>
          <a:xfrm>
            <a:off x="-3794242" y="128336"/>
            <a:ext cx="3705726" cy="6601328"/>
            <a:chOff x="128336" y="128336"/>
            <a:chExt cx="3705726" cy="660132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2D08B83-79D7-2EE2-E332-E82A06F0E561}"/>
                </a:ext>
              </a:extLst>
            </p:cNvPr>
            <p:cNvSpPr/>
            <p:nvPr/>
          </p:nvSpPr>
          <p:spPr>
            <a:xfrm>
              <a:off x="128336" y="128336"/>
              <a:ext cx="3705726" cy="660132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B9BE241-15A1-11FE-8341-C2AC28D6D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480345" y="2735180"/>
              <a:ext cx="3001710" cy="3300664"/>
            </a:xfrm>
            <a:prstGeom prst="rect">
              <a:avLst/>
            </a:prstGeom>
            <a:effectLst>
              <a:glow>
                <a:schemeClr val="bg1">
                  <a:alpha val="40000"/>
                </a:schemeClr>
              </a:glow>
              <a:softEdge rad="342900"/>
            </a:effectLst>
          </p:spPr>
        </p:pic>
        <p:sp>
          <p:nvSpPr>
            <p:cNvPr id="15" name="标题 1">
              <a:extLst>
                <a:ext uri="{FF2B5EF4-FFF2-40B4-BE49-F238E27FC236}">
                  <a16:creationId xmlns:a16="http://schemas.microsoft.com/office/drawing/2014/main" id="{C8BF6296-B22E-6340-9F17-55083C1ADE07}"/>
                </a:ext>
              </a:extLst>
            </p:cNvPr>
            <p:cNvSpPr txBox="1">
              <a:spLocks/>
            </p:cNvSpPr>
            <p:nvPr/>
          </p:nvSpPr>
          <p:spPr>
            <a:xfrm>
              <a:off x="798237" y="1097662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</a:rPr>
                <a:t>整体结构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C3F643F-0E26-E2C7-A4FB-03C17B90B4F6}"/>
              </a:ext>
            </a:extLst>
          </p:cNvPr>
          <p:cNvGrpSpPr/>
          <p:nvPr/>
        </p:nvGrpSpPr>
        <p:grpSpPr>
          <a:xfrm>
            <a:off x="3986463" y="-3301075"/>
            <a:ext cx="4219073" cy="3184358"/>
            <a:chOff x="3986463" y="128336"/>
            <a:chExt cx="4219073" cy="318435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2765CC-F6CB-8DC5-2CDE-1CF37C7B5680}"/>
                </a:ext>
              </a:extLst>
            </p:cNvPr>
            <p:cNvSpPr/>
            <p:nvPr/>
          </p:nvSpPr>
          <p:spPr>
            <a:xfrm>
              <a:off x="3986463" y="128336"/>
              <a:ext cx="4219073" cy="318435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8" name="内容占位符 4">
              <a:extLst>
                <a:ext uri="{FF2B5EF4-FFF2-40B4-BE49-F238E27FC236}">
                  <a16:creationId xmlns:a16="http://schemas.microsoft.com/office/drawing/2014/main" id="{3AA9F735-01DF-B76C-98D3-0883E1EF0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36044" y="983133"/>
              <a:ext cx="3216761" cy="2226401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83EA7B0D-3167-8C5D-A902-34DFBEE02AB8}"/>
                </a:ext>
              </a:extLst>
            </p:cNvPr>
            <p:cNvSpPr txBox="1">
              <a:spLocks/>
            </p:cNvSpPr>
            <p:nvPr/>
          </p:nvSpPr>
          <p:spPr>
            <a:xfrm>
              <a:off x="4961461" y="153964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零件细览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8324001-900A-8463-9E67-BC081ACB396F}"/>
              </a:ext>
            </a:extLst>
          </p:cNvPr>
          <p:cNvGrpSpPr/>
          <p:nvPr/>
        </p:nvGrpSpPr>
        <p:grpSpPr>
          <a:xfrm>
            <a:off x="4034887" y="6974717"/>
            <a:ext cx="4219073" cy="3300664"/>
            <a:chOff x="3986463" y="3429000"/>
            <a:chExt cx="4219073" cy="330066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8E62246-5AE2-D171-E6C9-60A5293FF4E4}"/>
                </a:ext>
              </a:extLst>
            </p:cNvPr>
            <p:cNvSpPr/>
            <p:nvPr/>
          </p:nvSpPr>
          <p:spPr>
            <a:xfrm>
              <a:off x="3986463" y="3429000"/>
              <a:ext cx="4219073" cy="330066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70D0C5B-6751-D22B-6827-4E8DB4C34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9192" y="4508037"/>
              <a:ext cx="3313613" cy="2161470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23" name="标题 1">
              <a:extLst>
                <a:ext uri="{FF2B5EF4-FFF2-40B4-BE49-F238E27FC236}">
                  <a16:creationId xmlns:a16="http://schemas.microsoft.com/office/drawing/2014/main" id="{10EEDC3A-AFD5-D9E3-544E-312B057F2369}"/>
                </a:ext>
              </a:extLst>
            </p:cNvPr>
            <p:cNvSpPr txBox="1">
              <a:spLocks/>
            </p:cNvSpPr>
            <p:nvPr/>
          </p:nvSpPr>
          <p:spPr>
            <a:xfrm>
              <a:off x="4951050" y="3564339"/>
              <a:ext cx="2365926" cy="943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000" b="1" dirty="0">
                  <a:solidFill>
                    <a:srgbClr val="0B5757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电路连接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17BCE43-09C0-C278-1F7C-DC886FFA15F5}"/>
              </a:ext>
            </a:extLst>
          </p:cNvPr>
          <p:cNvGrpSpPr/>
          <p:nvPr/>
        </p:nvGrpSpPr>
        <p:grpSpPr>
          <a:xfrm>
            <a:off x="12175960" y="128336"/>
            <a:ext cx="4034249" cy="6601328"/>
            <a:chOff x="8157751" y="128336"/>
            <a:chExt cx="4034249" cy="6601328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0DA336-8114-CF34-C98B-A64B418C4FB2}"/>
                </a:ext>
              </a:extLst>
            </p:cNvPr>
            <p:cNvSpPr/>
            <p:nvPr/>
          </p:nvSpPr>
          <p:spPr>
            <a:xfrm>
              <a:off x="8357937" y="128336"/>
              <a:ext cx="3705725" cy="66013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B92B4506-5C18-9975-6AC1-7F57C4254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7751" y="3069653"/>
              <a:ext cx="4034249" cy="2631717"/>
            </a:xfrm>
            <a:prstGeom prst="rect">
              <a:avLst/>
            </a:prstGeom>
            <a:effectLst>
              <a:softEdge rad="431800"/>
            </a:effectLst>
          </p:spPr>
        </p:pic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1E56F280-DDD4-04C1-6A15-1EE37D44E061}"/>
              </a:ext>
            </a:extLst>
          </p:cNvPr>
          <p:cNvSpPr txBox="1">
            <a:spLocks/>
          </p:cNvSpPr>
          <p:nvPr/>
        </p:nvSpPr>
        <p:spPr>
          <a:xfrm>
            <a:off x="459412" y="318267"/>
            <a:ext cx="3063241" cy="943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B5757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总结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F3503C-A1B3-45F7-DF9B-570613FC5DF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870993" y="1812036"/>
            <a:ext cx="3987646" cy="4384794"/>
          </a:xfrm>
          <a:prstGeom prst="rect">
            <a:avLst/>
          </a:prstGeom>
          <a:effectLst>
            <a:glow>
              <a:schemeClr val="bg1">
                <a:alpha val="40000"/>
              </a:schemeClr>
            </a:glow>
            <a:softEdge rad="342900"/>
          </a:effectLst>
        </p:spPr>
      </p:pic>
    </p:spTree>
    <p:extLst>
      <p:ext uri="{BB962C8B-B14F-4D97-AF65-F5344CB8AC3E}">
        <p14:creationId xmlns:p14="http://schemas.microsoft.com/office/powerpoint/2010/main" val="821356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1205</Words>
  <Application>Microsoft Office PowerPoint</Application>
  <PresentationFormat>宽屏</PresentationFormat>
  <Paragraphs>327</Paragraphs>
  <Slides>31</Slides>
  <Notes>17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PingFang SC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高翔 包</dc:creator>
  <cp:lastModifiedBy>煜暄 陈</cp:lastModifiedBy>
  <cp:revision>15</cp:revision>
  <dcterms:created xsi:type="dcterms:W3CDTF">2024-11-17T06:17:06Z</dcterms:created>
  <dcterms:modified xsi:type="dcterms:W3CDTF">2026-05-10T08:12:19Z</dcterms:modified>
</cp:coreProperties>
</file>